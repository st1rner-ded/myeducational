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 i="0">
                <a:solidFill>
                  <a:srgbClr val="243555"/>
                </a:solidFill>
                <a:latin typeface="Consolas"/>
                <a:ea typeface="Consolas"/>
              </a:rPr>
              <a:t>int x = 42;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81160" y="594360"/>
            <a:ext cx="27249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0" i="0">
                <a:solidFill>
                  <a:srgbClr val="243555"/>
                </a:solidFill>
                <a:latin typeface="Consolas"/>
                <a:ea typeface="Consolas"/>
              </a:rPr>
              <a:t>double pi = 3.14159;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0">
                <a:solidFill>
                  <a:srgbClr val="243555"/>
                </a:solidFill>
                <a:latin typeface="Consolas"/>
                <a:ea typeface="Consolas"/>
              </a:rPr>
              <a:t>auto y = 3.14f;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6840" y="146304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0">
                <a:solidFill>
                  <a:srgbClr val="243555"/>
                </a:solidFill>
                <a:latin typeface="Consolas"/>
                <a:ea typeface="Consolas"/>
              </a:rPr>
              <a:t>struct Point{int x,y;};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598932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0" i="0">
                <a:solidFill>
                  <a:srgbClr val="243555"/>
                </a:solidFill>
                <a:latin typeface="Consolas"/>
                <a:ea typeface="Consolas"/>
              </a:rPr>
              <a:t>char c = 'A';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21240" y="5943600"/>
            <a:ext cx="20848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0" i="0">
                <a:solidFill>
                  <a:srgbClr val="243555"/>
                </a:solidFill>
                <a:latin typeface="Consolas"/>
                <a:ea typeface="Consolas"/>
              </a:rPr>
              <a:t>bool ok = true;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12064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0">
                <a:solidFill>
                  <a:srgbClr val="243555"/>
                </a:solidFill>
                <a:latin typeface="Consolas"/>
                <a:ea typeface="Consolas"/>
              </a:rPr>
              <a:t>int* p = &amp;x;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5074920"/>
            <a:ext cx="25877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0">
                <a:solidFill>
                  <a:srgbClr val="243555"/>
                </a:solidFill>
                <a:latin typeface="Consolas"/>
                <a:ea typeface="Consolas"/>
              </a:rPr>
              <a:t>const int N = 10;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24028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243555"/>
                </a:solidFill>
                <a:latin typeface="Consolas"/>
                <a:ea typeface="Consolas"/>
              </a:rPr>
              <a:t>float f = 1.5f;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228600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243555"/>
                </a:solidFill>
                <a:latin typeface="Consolas"/>
                <a:ea typeface="Consolas"/>
              </a:rPr>
              <a:t>enum Color { RED, BLUE };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395728"/>
            <a:ext cx="3246120" cy="420624"/>
          </a:xfrm>
          <a:prstGeom prst="roundRect">
            <a:avLst>
              <a:gd name="adj" fmla="val 50000"/>
            </a:avLst>
          </a:prstGeom>
          <a:noFill/>
          <a:ln w="1524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 i="0">
                <a:solidFill>
                  <a:srgbClr val="2D9CDB"/>
                </a:solidFill>
                <a:latin typeface="Calibri"/>
                <a:ea typeface="Calibri"/>
              </a:rPr>
              <a:t>ПРОГРАММИРОВАНИЕ  •  C / C++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97180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  <a:ea typeface="Calibri"/>
              </a:rPr>
              <a:t>Типы переменных в C и C++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3913632"/>
            <a:ext cx="2103120" cy="54864"/>
          </a:xfrm>
          <a:prstGeom prst="rect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160520"/>
            <a:ext cx="10241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0" i="0">
                <a:solidFill>
                  <a:srgbClr val="AEBED6"/>
                </a:solidFill>
                <a:latin typeface="Calibri"/>
                <a:ea typeface="Calibri"/>
              </a:rPr>
              <a:t>Базовые и производные типы данных, область видимости и время жизни, а также главные различия между C и C++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172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6A7B99"/>
                </a:solidFill>
                <a:latin typeface="Calibri"/>
                <a:ea typeface="Calibri"/>
              </a:rPr>
              <a:t>Краткий обзор  •  12 слайдов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 i="0">
                <a:solidFill>
                  <a:srgbClr val="1F3050"/>
                </a:solidFill>
                <a:latin typeface="Calibri"/>
                <a:ea typeface="Calibri"/>
              </a:rPr>
              <a:t>Что такое переменная?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24128"/>
            <a:ext cx="1371600" cy="50292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993392" y="1024128"/>
            <a:ext cx="320040" cy="50292"/>
          </a:xfrm>
          <a:prstGeom prst="rect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0" i="0">
                <a:solidFill>
                  <a:srgbClr val="8A94A6"/>
                </a:solidFill>
                <a:latin typeface="Calibri"/>
                <a:ea typeface="Calibri"/>
              </a:rPr>
              <a:t>Типы переменных в C и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37376"/>
            <a:ext cx="502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2D9CDB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5212080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28600" indent="-228600">
              <a:lnSpc>
                <a:spcPct val="112000"/>
              </a:lnSpc>
              <a:spcBef>
                <a:spcPts val="1200"/>
              </a:spcBef>
              <a:buClr>
                <a:srgbClr val="2D9CDB"/>
              </a:buClr>
              <a:buFont typeface="Arial" pitchFamily="34" charset="0"/>
              <a:buChar char="•"/>
            </a:pPr>
            <a:r>
              <a:rPr sz="1450" b="1" i="0">
                <a:solidFill>
                  <a:srgbClr val="26334A"/>
                </a:solidFill>
                <a:latin typeface="Calibri"/>
                <a:ea typeface="Calibri"/>
              </a:rPr>
              <a:t>Переменная </a:t>
            </a:r>
            <a:r>
              <a:rPr sz="1450" b="0" i="0">
                <a:solidFill>
                  <a:srgbClr val="3C4655"/>
                </a:solidFill>
                <a:latin typeface="Calibri"/>
                <a:ea typeface="Calibri"/>
              </a:rPr>
              <a:t>— именованная область памяти, в которой хранятся данные определённого типа</a:t>
            </a:r>
          </a:p>
          <a:p>
            <a:pPr marL="228600" indent="-228600">
              <a:lnSpc>
                <a:spcPct val="112000"/>
              </a:lnSpc>
              <a:spcBef>
                <a:spcPts val="1200"/>
              </a:spcBef>
              <a:buClr>
                <a:srgbClr val="2D9CDB"/>
              </a:buClr>
              <a:buFont typeface="Arial" pitchFamily="34" charset="0"/>
              <a:buChar char="•"/>
            </a:pPr>
            <a:r>
              <a:rPr sz="1450" b="1" i="0">
                <a:solidFill>
                  <a:srgbClr val="26334A"/>
                </a:solidFill>
                <a:latin typeface="Calibri"/>
                <a:ea typeface="Calibri"/>
              </a:rPr>
              <a:t>Тип </a:t>
            </a:r>
            <a:r>
              <a:rPr sz="1450" b="0" i="0">
                <a:solidFill>
                  <a:srgbClr val="3C4655"/>
                </a:solidFill>
                <a:latin typeface="Calibri"/>
                <a:ea typeface="Calibri"/>
              </a:rPr>
              <a:t>определяет размер в памяти, множество допустимых значений и доступные операции</a:t>
            </a:r>
          </a:p>
          <a:p>
            <a:pPr marL="228600" indent="-228600">
              <a:lnSpc>
                <a:spcPct val="112000"/>
              </a:lnSpc>
              <a:spcBef>
                <a:spcPts val="1200"/>
              </a:spcBef>
              <a:buClr>
                <a:srgbClr val="2D9CDB"/>
              </a:buClr>
              <a:buFont typeface="Arial" pitchFamily="34" charset="0"/>
              <a:buChar char="•"/>
            </a:pPr>
            <a:r>
              <a:rPr sz="1450" b="1" i="0">
                <a:solidFill>
                  <a:srgbClr val="26334A"/>
                </a:solidFill>
                <a:latin typeface="Calibri"/>
                <a:ea typeface="Calibri"/>
              </a:rPr>
              <a:t>Объявление: </a:t>
            </a:r>
            <a:r>
              <a:rPr sz="1350" b="1" i="0">
                <a:solidFill>
                  <a:srgbClr val="B02A5B"/>
                </a:solidFill>
                <a:latin typeface="Consolas"/>
                <a:ea typeface="Consolas"/>
              </a:rPr>
              <a:t>int counter;</a:t>
            </a:r>
            <a:r>
              <a:rPr sz="1450" b="0" i="0">
                <a:solidFill>
                  <a:srgbClr val="3C4655"/>
                </a:solidFill>
                <a:latin typeface="Calibri"/>
                <a:ea typeface="Calibri"/>
              </a:rPr>
              <a:t>    Инициализация: </a:t>
            </a:r>
            <a:r>
              <a:rPr sz="1350" b="1" i="0">
                <a:solidFill>
                  <a:srgbClr val="B02A5B"/>
                </a:solidFill>
                <a:latin typeface="Consolas"/>
                <a:ea typeface="Consolas"/>
              </a:rPr>
              <a:t>int counter = 0;</a:t>
            </a:r>
          </a:p>
          <a:p>
            <a:pPr marL="228600" indent="-228600">
              <a:lnSpc>
                <a:spcPct val="112000"/>
              </a:lnSpc>
              <a:spcBef>
                <a:spcPts val="1200"/>
              </a:spcBef>
              <a:buClr>
                <a:srgbClr val="2D9CDB"/>
              </a:buClr>
              <a:buFont typeface="Arial" pitchFamily="34" charset="0"/>
              <a:buChar char="•"/>
            </a:pPr>
            <a:r>
              <a:rPr sz="1450" b="1" i="0">
                <a:solidFill>
                  <a:srgbClr val="26334A"/>
                </a:solidFill>
                <a:latin typeface="Calibri"/>
                <a:ea typeface="Calibri"/>
              </a:rPr>
              <a:t>Имена: </a:t>
            </a:r>
            <a:r>
              <a:rPr sz="1450" b="0" i="0">
                <a:solidFill>
                  <a:srgbClr val="3C4655"/>
                </a:solidFill>
                <a:latin typeface="Calibri"/>
                <a:ea typeface="Calibri"/>
              </a:rPr>
              <a:t>буквы, цифры, </a:t>
            </a:r>
            <a:r>
              <a:rPr sz="1350" b="1" i="0">
                <a:solidFill>
                  <a:srgbClr val="B02A5B"/>
                </a:solidFill>
                <a:latin typeface="Consolas"/>
                <a:ea typeface="Consolas"/>
              </a:rPr>
              <a:t>_</a:t>
            </a:r>
            <a:r>
              <a:rPr sz="1450" b="0" i="0">
                <a:solidFill>
                  <a:srgbClr val="3C4655"/>
                </a:solidFill>
                <a:latin typeface="Calibri"/>
                <a:ea typeface="Calibri"/>
              </a:rPr>
              <a:t>; не начинаются с цифры; регистр важен: </a:t>
            </a:r>
            <a:r>
              <a:rPr sz="1350" b="1" i="0">
                <a:solidFill>
                  <a:srgbClr val="B02A5B"/>
                </a:solidFill>
                <a:latin typeface="Consolas"/>
                <a:ea typeface="Consolas"/>
              </a:rPr>
              <a:t>age</a:t>
            </a:r>
            <a:r>
              <a:rPr sz="1450" b="0" i="0">
                <a:solidFill>
                  <a:srgbClr val="3C4655"/>
                </a:solidFill>
                <a:latin typeface="Calibri"/>
                <a:ea typeface="Calibri"/>
              </a:rPr>
              <a:t> ≠ </a:t>
            </a:r>
            <a:r>
              <a:rPr sz="1350" b="1" i="0">
                <a:solidFill>
                  <a:srgbClr val="B02A5B"/>
                </a:solidFill>
                <a:latin typeface="Consolas"/>
                <a:ea typeface="Consolas"/>
              </a:rPr>
              <a:t>Age</a:t>
            </a:r>
          </a:p>
          <a:p>
            <a:pPr marL="228600" indent="-228600">
              <a:lnSpc>
                <a:spcPct val="112000"/>
              </a:lnSpc>
              <a:spcBef>
                <a:spcPts val="1200"/>
              </a:spcBef>
              <a:buClr>
                <a:srgbClr val="2D9CDB"/>
              </a:buClr>
              <a:buFont typeface="Arial" pitchFamily="34" charset="0"/>
              <a:buChar char="•"/>
            </a:pPr>
            <a:r>
              <a:rPr sz="1450" b="1" i="0">
                <a:solidFill>
                  <a:srgbClr val="26334A"/>
                </a:solidFill>
                <a:latin typeface="Calibri"/>
                <a:ea typeface="Calibri"/>
              </a:rPr>
              <a:t>В C89 </a:t>
            </a:r>
            <a:r>
              <a:rPr sz="1450" b="0" i="0">
                <a:solidFill>
                  <a:srgbClr val="3C4655"/>
                </a:solidFill>
                <a:latin typeface="Calibri"/>
                <a:ea typeface="Calibri"/>
              </a:rPr>
              <a:t>объявление только в начале блока, в C99 и C++ — в любом месте до использования</a:t>
            </a:r>
          </a:p>
        </p:txBody>
      </p:sp>
      <p:sp>
        <p:nvSpPr>
          <p:cNvPr id="8" name="Rectangle 7"/>
          <p:cNvSpPr/>
          <p:nvPr/>
        </p:nvSpPr>
        <p:spPr>
          <a:xfrm>
            <a:off x="5989320" y="1417320"/>
            <a:ext cx="5669280" cy="3017520"/>
          </a:xfrm>
          <a:prstGeom prst="rect">
            <a:avLst/>
          </a:prstGeom>
          <a:solidFill>
            <a:srgbClr val="F3F6FA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89320" y="1417320"/>
            <a:ext cx="64008" cy="301752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45352" y="1563624"/>
            <a:ext cx="52120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8000"/>
              </a:lnSpc>
              <a:defRPr sz="1250">
                <a:latin typeface="Consolas"/>
              </a:defRPr>
            </a:pPr>
            <a:r>
              <a:rPr sz="1250" b="0" i="0">
                <a:solidFill>
                  <a:srgbClr val="267F99"/>
                </a:solidFill>
                <a:latin typeface="Consolas"/>
                <a:ea typeface="Consolas"/>
              </a:rPr>
              <a:t>int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age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=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098658"/>
                </a:solidFill>
                <a:latin typeface="Consolas"/>
                <a:ea typeface="Consolas"/>
              </a:rPr>
              <a:t>25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;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          </a:t>
            </a:r>
            <a:r>
              <a:rPr sz="1250" b="0" i="1">
                <a:solidFill>
                  <a:srgbClr val="2E8540"/>
                </a:solidFill>
                <a:latin typeface="Consolas"/>
                <a:ea typeface="Consolas"/>
              </a:rPr>
              <a:t>// объявление + инициализация</a:t>
            </a:r>
          </a:p>
          <a:p>
            <a:pPr>
              <a:lnSpc>
                <a:spcPct val="118000"/>
              </a:lnSpc>
              <a:defRPr sz="1250">
                <a:latin typeface="Consolas"/>
              </a:defRPr>
            </a:pPr>
            <a:r>
              <a:rPr sz="1250" b="0" i="0">
                <a:solidFill>
                  <a:srgbClr val="267F99"/>
                </a:solidFill>
                <a:latin typeface="Consolas"/>
                <a:ea typeface="Consolas"/>
              </a:rPr>
              <a:t>double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price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=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098658"/>
                </a:solidFill>
                <a:latin typeface="Consolas"/>
                <a:ea typeface="Consolas"/>
              </a:rPr>
              <a:t>9.99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;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   </a:t>
            </a:r>
            <a:r>
              <a:rPr sz="1250" b="0" i="1">
                <a:solidFill>
                  <a:srgbClr val="2E8540"/>
                </a:solidFill>
                <a:latin typeface="Consolas"/>
                <a:ea typeface="Consolas"/>
              </a:rPr>
              <a:t>// дробное число</a:t>
            </a:r>
          </a:p>
          <a:p>
            <a:pPr>
              <a:lnSpc>
                <a:spcPct val="118000"/>
              </a:lnSpc>
              <a:defRPr sz="1250">
                <a:latin typeface="Consolas"/>
              </a:defRPr>
            </a:pPr>
            <a:r>
              <a:rPr sz="1250" b="0" i="0">
                <a:solidFill>
                  <a:srgbClr val="267F99"/>
                </a:solidFill>
                <a:latin typeface="Consolas"/>
                <a:ea typeface="Consolas"/>
              </a:rPr>
              <a:t>char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letter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=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A31515"/>
                </a:solidFill>
                <a:latin typeface="Consolas"/>
                <a:ea typeface="Consolas"/>
              </a:rPr>
              <a:t>'A'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;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     </a:t>
            </a:r>
            <a:r>
              <a:rPr sz="1250" b="0" i="1">
                <a:solidFill>
                  <a:srgbClr val="2E8540"/>
                </a:solidFill>
                <a:latin typeface="Consolas"/>
                <a:ea typeface="Consolas"/>
              </a:rPr>
              <a:t>// символ</a:t>
            </a:r>
          </a:p>
          <a:p>
            <a:pPr>
              <a:lnSpc>
                <a:spcPct val="118000"/>
              </a:lnSpc>
              <a:defRPr sz="1250">
                <a:latin typeface="Consolas"/>
              </a:defRPr>
            </a:pP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</a:p>
          <a:p>
            <a:pPr>
              <a:lnSpc>
                <a:spcPct val="118000"/>
              </a:lnSpc>
              <a:defRPr sz="1250">
                <a:latin typeface="Consolas"/>
              </a:defRPr>
            </a:pP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age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=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age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+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098658"/>
                </a:solidFill>
                <a:latin typeface="Consolas"/>
                <a:ea typeface="Consolas"/>
              </a:rPr>
              <a:t>1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;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         </a:t>
            </a:r>
            <a:r>
              <a:rPr sz="1250" b="0" i="1">
                <a:solidFill>
                  <a:srgbClr val="2E8540"/>
                </a:solidFill>
                <a:latin typeface="Consolas"/>
                <a:ea typeface="Consolas"/>
              </a:rPr>
              <a:t>// значение можно изменить</a:t>
            </a:r>
          </a:p>
          <a:p>
            <a:pPr>
              <a:lnSpc>
                <a:spcPct val="118000"/>
              </a:lnSpc>
              <a:defRPr sz="1250">
                <a:latin typeface="Consolas"/>
              </a:defRPr>
            </a:pP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</a:p>
          <a:p>
            <a:pPr>
              <a:lnSpc>
                <a:spcPct val="118000"/>
              </a:lnSpc>
              <a:defRPr sz="1250">
                <a:latin typeface="Consolas"/>
              </a:defRPr>
            </a:pPr>
            <a:r>
              <a:rPr sz="1250" b="0" i="0">
                <a:solidFill>
                  <a:srgbClr val="795E26"/>
                </a:solidFill>
                <a:latin typeface="Consolas"/>
                <a:ea typeface="Consolas"/>
              </a:rPr>
              <a:t>printf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(</a:t>
            </a:r>
            <a:r>
              <a:rPr sz="1250" b="0" i="0">
                <a:solidFill>
                  <a:srgbClr val="A31515"/>
                </a:solidFill>
                <a:latin typeface="Consolas"/>
                <a:ea typeface="Consolas"/>
              </a:rPr>
              <a:t>"%d\n"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,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age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);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   </a:t>
            </a:r>
            <a:r>
              <a:rPr sz="1250" b="0" i="1">
                <a:solidFill>
                  <a:srgbClr val="2E8540"/>
                </a:solidFill>
                <a:latin typeface="Consolas"/>
                <a:ea typeface="Consolas"/>
              </a:rPr>
              <a:t>// вывод в C</a:t>
            </a:r>
          </a:p>
          <a:p>
            <a:pPr>
              <a:lnSpc>
                <a:spcPct val="118000"/>
              </a:lnSpc>
              <a:defRPr sz="1250">
                <a:latin typeface="Consolas"/>
              </a:defRPr>
            </a:pP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std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::</a:t>
            </a:r>
            <a:r>
              <a:rPr sz="1250" b="0" i="0">
                <a:solidFill>
                  <a:srgbClr val="795E26"/>
                </a:solidFill>
                <a:latin typeface="Consolas"/>
                <a:ea typeface="Consolas"/>
              </a:rPr>
              <a:t>cout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&lt;&lt;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age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;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      </a:t>
            </a:r>
            <a:r>
              <a:rPr sz="1250" b="0" i="1">
                <a:solidFill>
                  <a:srgbClr val="2E8540"/>
                </a:solidFill>
                <a:latin typeface="Consolas"/>
                <a:ea typeface="Consolas"/>
              </a:rPr>
              <a:t>// вывод в C++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21240" y="1472184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8A94A6"/>
                </a:solidFill>
                <a:latin typeface="Consolas"/>
                <a:ea typeface="Consolas"/>
              </a:rPr>
              <a:t>example.cpp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 i="0">
                <a:solidFill>
                  <a:srgbClr val="1F3050"/>
                </a:solidFill>
                <a:latin typeface="Calibri"/>
                <a:ea typeface="Calibri"/>
              </a:rPr>
              <a:t>Базовые (встроенные) типы данных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24128"/>
            <a:ext cx="1371600" cy="50292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993392" y="1024128"/>
            <a:ext cx="320040" cy="50292"/>
          </a:xfrm>
          <a:prstGeom prst="rect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0" i="0">
                <a:solidFill>
                  <a:srgbClr val="8A94A6"/>
                </a:solidFill>
                <a:latin typeface="Calibri"/>
                <a:ea typeface="Calibri"/>
              </a:rPr>
              <a:t>Типы переменных в C и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37376"/>
            <a:ext cx="502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2D9CDB"/>
                </a:solidFill>
                <a:latin typeface="Calibri"/>
                <a:ea typeface="Calibri"/>
              </a:rPr>
              <a:t>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17320"/>
          <a:ext cx="11091672" cy="33101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2148840"/>
                <a:gridCol w="7114032"/>
              </a:tblGrid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Тип</a:t>
                      </a:r>
                    </a:p>
                  </a:txBody>
                  <a:tcPr marL="109728" marR="91440" marT="36576" marB="36576" anchor="ctr">
                    <a:solidFill>
                      <a:srgbClr val="1F30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Размер</a:t>
                      </a:r>
                    </a:p>
                  </a:txBody>
                  <a:tcPr marL="109728" marR="91440" marT="36576" marB="36576" anchor="ctr">
                    <a:solidFill>
                      <a:srgbClr val="1F30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Назначение и диапазон значений</a:t>
                      </a:r>
                    </a:p>
                  </a:txBody>
                  <a:tcPr marL="109728" marR="91440" marT="36576" marB="36576" anchor="ctr">
                    <a:solidFill>
                      <a:srgbClr val="1F3050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26334A"/>
                          </a:solidFill>
                          <a:latin typeface="Calibri"/>
                          <a:ea typeface="Calibri"/>
                        </a:rPr>
                        <a:t>char</a:t>
                      </a:r>
                    </a:p>
                  </a:txBody>
                  <a:tcPr marL="109728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3C4655"/>
                          </a:solidFill>
                          <a:latin typeface="Calibri"/>
                          <a:ea typeface="Calibri"/>
                        </a:rPr>
                        <a:t>1 байт</a:t>
                      </a:r>
                    </a:p>
                  </a:txBody>
                  <a:tcPr marL="109728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C4655"/>
                          </a:solidFill>
                          <a:latin typeface="Calibri"/>
                          <a:ea typeface="Calibri"/>
                        </a:rPr>
                        <a:t>символ или маленькое целое: −128 … 127</a:t>
                      </a:r>
                    </a:p>
                  </a:txBody>
                  <a:tcPr marL="109728" marR="91440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26334A"/>
                          </a:solidFill>
                          <a:latin typeface="Calibri"/>
                          <a:ea typeface="Calibri"/>
                        </a:rPr>
                        <a:t>int</a:t>
                      </a:r>
                    </a:p>
                  </a:txBody>
                  <a:tcPr marL="109728" marR="91440" marT="36576" marB="36576" anchor="ctr">
                    <a:solidFill>
                      <a:srgbClr val="ED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3C4655"/>
                          </a:solidFill>
                          <a:latin typeface="Calibri"/>
                          <a:ea typeface="Calibri"/>
                        </a:rPr>
                        <a:t>2 или 4 байта</a:t>
                      </a:r>
                    </a:p>
                  </a:txBody>
                  <a:tcPr marL="109728" marR="91440" marT="36576" marB="36576" anchor="ctr">
                    <a:solidFill>
                      <a:srgbClr val="ED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C4655"/>
                          </a:solidFill>
                          <a:latin typeface="Calibri"/>
                          <a:ea typeface="Calibri"/>
                        </a:rPr>
                        <a:t>целое число; обычно −2 147 483 648 … 2 147 483 647</a:t>
                      </a:r>
                    </a:p>
                  </a:txBody>
                  <a:tcPr marL="109728" marR="91440" marT="36576" marB="36576" anchor="ctr">
                    <a:solidFill>
                      <a:srgbClr val="EDF2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26334A"/>
                          </a:solidFill>
                          <a:latin typeface="Calibri"/>
                          <a:ea typeface="Calibri"/>
                        </a:rPr>
                        <a:t>float</a:t>
                      </a:r>
                    </a:p>
                  </a:txBody>
                  <a:tcPr marL="109728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3C4655"/>
                          </a:solidFill>
                          <a:latin typeface="Calibri"/>
                          <a:ea typeface="Calibri"/>
                        </a:rPr>
                        <a:t>4 байта</a:t>
                      </a:r>
                    </a:p>
                  </a:txBody>
                  <a:tcPr marL="109728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C4655"/>
                          </a:solidFill>
                          <a:latin typeface="Calibri"/>
                          <a:ea typeface="Calibri"/>
                        </a:rPr>
                        <a:t>вещественное число, точность ≈ 6–7 значащих цифр</a:t>
                      </a:r>
                    </a:p>
                  </a:txBody>
                  <a:tcPr marL="109728" marR="91440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26334A"/>
                          </a:solidFill>
                          <a:latin typeface="Calibri"/>
                          <a:ea typeface="Calibri"/>
                        </a:rPr>
                        <a:t>double</a:t>
                      </a:r>
                    </a:p>
                  </a:txBody>
                  <a:tcPr marL="109728" marR="91440" marT="36576" marB="36576" anchor="ctr">
                    <a:solidFill>
                      <a:srgbClr val="ED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3C4655"/>
                          </a:solidFill>
                          <a:latin typeface="Calibri"/>
                          <a:ea typeface="Calibri"/>
                        </a:rPr>
                        <a:t>8 байт</a:t>
                      </a:r>
                    </a:p>
                  </a:txBody>
                  <a:tcPr marL="109728" marR="91440" marT="36576" marB="36576" anchor="ctr">
                    <a:solidFill>
                      <a:srgbClr val="ED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C4655"/>
                          </a:solidFill>
                          <a:latin typeface="Calibri"/>
                          <a:ea typeface="Calibri"/>
                        </a:rPr>
                        <a:t>вещественное число, точность ≈ 15–17 значащих цифр</a:t>
                      </a:r>
                    </a:p>
                  </a:txBody>
                  <a:tcPr marL="109728" marR="91440" marT="36576" marB="36576" anchor="ctr">
                    <a:solidFill>
                      <a:srgbClr val="EDF2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26334A"/>
                          </a:solidFill>
                          <a:latin typeface="Calibri"/>
                          <a:ea typeface="Calibri"/>
                        </a:rPr>
                        <a:t>void</a:t>
                      </a:r>
                    </a:p>
                  </a:txBody>
                  <a:tcPr marL="109728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3C4655"/>
                          </a:solidFill>
                          <a:latin typeface="Calibri"/>
                          <a:ea typeface="Calibri"/>
                        </a:rPr>
                        <a:t>—</a:t>
                      </a:r>
                    </a:p>
                  </a:txBody>
                  <a:tcPr marL="109728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C4655"/>
                          </a:solidFill>
                          <a:latin typeface="Calibri"/>
                          <a:ea typeface="Calibri"/>
                        </a:rPr>
                        <a:t>«отсутствие типа»: результат функции, универсальный указатель </a:t>
                      </a:r>
                      <a:r>
                        <a:rPr sz="1200" b="1" i="0">
                          <a:solidFill>
                            <a:srgbClr val="B02A5B"/>
                          </a:solidFill>
                          <a:latin typeface="Consolas"/>
                          <a:ea typeface="Consolas"/>
                        </a:rPr>
                        <a:t>void*</a:t>
                      </a:r>
                    </a:p>
                  </a:txBody>
                  <a:tcPr marL="109728" marR="91440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 b="0" i="0">
                <a:solidFill>
                  <a:srgbClr val="3C4655"/>
                </a:solidFill>
                <a:latin typeface="Calibri"/>
                <a:ea typeface="Calibri"/>
              </a:rPr>
              <a:t>Размеры зависят от платформы и компилятора (модели данных ILP32 / LLP64 / LP64). Стандарт гарантирует лишь </a:t>
            </a:r>
            <a:r>
              <a:rPr sz="1200" b="1" i="0">
                <a:solidFill>
                  <a:srgbClr val="B02A5B"/>
                </a:solidFill>
                <a:latin typeface="Consolas"/>
                <a:ea typeface="Consolas"/>
              </a:rPr>
              <a:t>sizeof(char) == 1</a:t>
            </a:r>
            <a:r>
              <a:rPr sz="1300" b="0" i="0">
                <a:solidFill>
                  <a:srgbClr val="3C4655"/>
                </a:solidFill>
                <a:latin typeface="Calibri"/>
                <a:ea typeface="Calibri"/>
              </a:rPr>
              <a:t> и соотношения между типами.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sz="1300" b="0" i="0">
                <a:solidFill>
                  <a:srgbClr val="3C4655"/>
                </a:solidFill>
                <a:latin typeface="Calibri"/>
                <a:ea typeface="Calibri"/>
              </a:rPr>
              <a:t>В C++ к базовым типам также относятся </a:t>
            </a:r>
            <a:r>
              <a:rPr sz="1200" b="1" i="0">
                <a:solidFill>
                  <a:srgbClr val="B02A5B"/>
                </a:solidFill>
                <a:latin typeface="Consolas"/>
                <a:ea typeface="Consolas"/>
              </a:rPr>
              <a:t>bool</a:t>
            </a:r>
            <a:r>
              <a:rPr sz="1300" b="0" i="0">
                <a:solidFill>
                  <a:srgbClr val="3C4655"/>
                </a:solidFill>
                <a:latin typeface="Calibri"/>
                <a:ea typeface="Calibri"/>
              </a:rPr>
              <a:t> и </a:t>
            </a:r>
            <a:r>
              <a:rPr sz="1200" b="1" i="0">
                <a:solidFill>
                  <a:srgbClr val="B02A5B"/>
                </a:solidFill>
                <a:latin typeface="Consolas"/>
                <a:ea typeface="Consolas"/>
              </a:rPr>
              <a:t>wchar_t</a:t>
            </a:r>
            <a:r>
              <a:rPr sz="1300" b="0" i="0">
                <a:solidFill>
                  <a:srgbClr val="3C4655"/>
                </a:solidFill>
                <a:latin typeface="Calibri"/>
                <a:ea typeface="Calibri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 i="0">
                <a:solidFill>
                  <a:srgbClr val="1F3050"/>
                </a:solidFill>
                <a:latin typeface="Calibri"/>
                <a:ea typeface="Calibri"/>
              </a:rPr>
              <a:t>Целочисленные типы и модификаторы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24128"/>
            <a:ext cx="1371600" cy="50292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993392" y="1024128"/>
            <a:ext cx="320040" cy="50292"/>
          </a:xfrm>
          <a:prstGeom prst="rect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0" i="0">
                <a:solidFill>
                  <a:srgbClr val="8A94A6"/>
                </a:solidFill>
                <a:latin typeface="Calibri"/>
                <a:ea typeface="Calibri"/>
              </a:rPr>
              <a:t>Типы переменных в C и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37376"/>
            <a:ext cx="502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2D9CDB"/>
                </a:solidFill>
                <a:latin typeface="Calibri"/>
                <a:ea typeface="Calibr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5212080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28600" indent="-228600">
              <a:lnSpc>
                <a:spcPct val="112000"/>
              </a:lnSpc>
              <a:spcBef>
                <a:spcPts val="1200"/>
              </a:spcBef>
              <a:buClr>
                <a:srgbClr val="2D9CDB"/>
              </a:buClr>
              <a:buFont typeface="Arial" pitchFamily="34" charset="0"/>
              <a:buChar char="•"/>
            </a:pPr>
            <a:r>
              <a:rPr sz="1450" b="1" i="0">
                <a:solidFill>
                  <a:srgbClr val="26334A"/>
                </a:solidFill>
                <a:latin typeface="Calibri"/>
                <a:ea typeface="Calibri"/>
              </a:rPr>
              <a:t>Модификаторы размера: </a:t>
            </a:r>
            <a:r>
              <a:rPr sz="1350" b="1" i="0">
                <a:solidFill>
                  <a:srgbClr val="B02A5B"/>
                </a:solidFill>
                <a:latin typeface="Consolas"/>
                <a:ea typeface="Consolas"/>
              </a:rPr>
              <a:t>short</a:t>
            </a:r>
            <a:r>
              <a:rPr sz="1450" b="0" i="0">
                <a:solidFill>
                  <a:srgbClr val="3C4655"/>
                </a:solidFill>
                <a:latin typeface="Calibri"/>
                <a:ea typeface="Calibri"/>
              </a:rPr>
              <a:t>, </a:t>
            </a:r>
            <a:r>
              <a:rPr sz="1350" b="1" i="0">
                <a:solidFill>
                  <a:srgbClr val="B02A5B"/>
                </a:solidFill>
                <a:latin typeface="Consolas"/>
                <a:ea typeface="Consolas"/>
              </a:rPr>
              <a:t>long</a:t>
            </a:r>
            <a:r>
              <a:rPr sz="1450" b="0" i="0">
                <a:solidFill>
                  <a:srgbClr val="3C4655"/>
                </a:solidFill>
                <a:latin typeface="Calibri"/>
                <a:ea typeface="Calibri"/>
              </a:rPr>
              <a:t>, </a:t>
            </a:r>
            <a:r>
              <a:rPr sz="1350" b="1" i="0">
                <a:solidFill>
                  <a:srgbClr val="B02A5B"/>
                </a:solidFill>
                <a:latin typeface="Consolas"/>
                <a:ea typeface="Consolas"/>
              </a:rPr>
              <a:t>long long</a:t>
            </a:r>
            <a:r>
              <a:rPr sz="1450" b="0" i="0">
                <a:solidFill>
                  <a:srgbClr val="3C4655"/>
                </a:solidFill>
                <a:latin typeface="Calibri"/>
                <a:ea typeface="Calibri"/>
              </a:rPr>
              <a:t> — меняют разрядность типа </a:t>
            </a:r>
            <a:r>
              <a:rPr sz="1350" b="1" i="0">
                <a:solidFill>
                  <a:srgbClr val="B02A5B"/>
                </a:solidFill>
                <a:latin typeface="Consolas"/>
                <a:ea typeface="Consolas"/>
              </a:rPr>
              <a:t>int</a:t>
            </a:r>
          </a:p>
          <a:p>
            <a:pPr marL="228600" indent="-228600">
              <a:lnSpc>
                <a:spcPct val="112000"/>
              </a:lnSpc>
              <a:spcBef>
                <a:spcPts val="1200"/>
              </a:spcBef>
              <a:buClr>
                <a:srgbClr val="2D9CDB"/>
              </a:buClr>
              <a:buFont typeface="Arial" pitchFamily="34" charset="0"/>
              <a:buChar char="•"/>
            </a:pPr>
            <a:r>
              <a:rPr sz="1450" b="1" i="0">
                <a:solidFill>
                  <a:srgbClr val="26334A"/>
                </a:solidFill>
                <a:latin typeface="Calibri"/>
                <a:ea typeface="Calibri"/>
              </a:rPr>
              <a:t>Знак: </a:t>
            </a:r>
            <a:r>
              <a:rPr sz="1350" b="1" i="0">
                <a:solidFill>
                  <a:srgbClr val="B02A5B"/>
                </a:solidFill>
                <a:latin typeface="Consolas"/>
                <a:ea typeface="Consolas"/>
              </a:rPr>
              <a:t>signed</a:t>
            </a:r>
            <a:r>
              <a:rPr sz="1450" b="0" i="0">
                <a:solidFill>
                  <a:srgbClr val="3C4655"/>
                </a:solidFill>
                <a:latin typeface="Calibri"/>
                <a:ea typeface="Calibri"/>
              </a:rPr>
              <a:t> (по умолчанию) и </a:t>
            </a:r>
            <a:r>
              <a:rPr sz="1350" b="1" i="0">
                <a:solidFill>
                  <a:srgbClr val="B02A5B"/>
                </a:solidFill>
                <a:latin typeface="Consolas"/>
                <a:ea typeface="Consolas"/>
              </a:rPr>
              <a:t>unsigned</a:t>
            </a:r>
            <a:r>
              <a:rPr sz="1450" b="0" i="0">
                <a:solidFill>
                  <a:srgbClr val="3C4655"/>
                </a:solidFill>
                <a:latin typeface="Calibri"/>
                <a:ea typeface="Calibri"/>
              </a:rPr>
              <a:t> — только неотрицательные значения</a:t>
            </a:r>
          </a:p>
          <a:p>
            <a:pPr marL="228600" indent="-228600">
              <a:lnSpc>
                <a:spcPct val="112000"/>
              </a:lnSpc>
              <a:spcBef>
                <a:spcPts val="1200"/>
              </a:spcBef>
              <a:buClr>
                <a:srgbClr val="2D9CDB"/>
              </a:buClr>
              <a:buFont typeface="Arial" pitchFamily="34" charset="0"/>
              <a:buChar char="•"/>
            </a:pPr>
            <a:r>
              <a:rPr sz="1450" b="1" i="0">
                <a:solidFill>
                  <a:srgbClr val="26334A"/>
                </a:solidFill>
                <a:latin typeface="Calibri"/>
                <a:ea typeface="Calibri"/>
              </a:rPr>
              <a:t>unsigned </a:t>
            </a:r>
            <a:r>
              <a:rPr sz="1450" b="0" i="0">
                <a:solidFill>
                  <a:srgbClr val="3C4655"/>
                </a:solidFill>
                <a:latin typeface="Calibri"/>
                <a:ea typeface="Calibri"/>
              </a:rPr>
              <a:t>удваивает диапазон: </a:t>
            </a:r>
            <a:r>
              <a:rPr sz="1350" b="1" i="0">
                <a:solidFill>
                  <a:srgbClr val="B02A5B"/>
                </a:solidFill>
                <a:latin typeface="Consolas"/>
                <a:ea typeface="Consolas"/>
              </a:rPr>
              <a:t>unsigned int</a:t>
            </a:r>
            <a:r>
              <a:rPr sz="1450" b="0" i="0">
                <a:solidFill>
                  <a:srgbClr val="3C4655"/>
                </a:solidFill>
                <a:latin typeface="Calibri"/>
                <a:ea typeface="Calibri"/>
              </a:rPr>
              <a:t> → 0 … 4 294 967 295</a:t>
            </a:r>
          </a:p>
          <a:p>
            <a:pPr marL="228600" indent="-228600">
              <a:lnSpc>
                <a:spcPct val="112000"/>
              </a:lnSpc>
              <a:spcBef>
                <a:spcPts val="1200"/>
              </a:spcBef>
              <a:buClr>
                <a:srgbClr val="2D9CDB"/>
              </a:buClr>
              <a:buFont typeface="Arial" pitchFamily="34" charset="0"/>
              <a:buChar char="•"/>
            </a:pPr>
            <a:r>
              <a:rPr sz="1450" b="1" i="0">
                <a:solidFill>
                  <a:srgbClr val="26334A"/>
                </a:solidFill>
                <a:latin typeface="Calibri"/>
                <a:ea typeface="Calibri"/>
              </a:rPr>
              <a:t>Типы фиксированной ширины: </a:t>
            </a:r>
            <a:r>
              <a:rPr sz="1350" b="1" i="0">
                <a:solidFill>
                  <a:srgbClr val="B02A5B"/>
                </a:solidFill>
                <a:latin typeface="Consolas"/>
                <a:ea typeface="Consolas"/>
              </a:rPr>
              <a:t>int8_t</a:t>
            </a:r>
            <a:r>
              <a:rPr sz="1450" b="0" i="0">
                <a:solidFill>
                  <a:srgbClr val="3C4655"/>
                </a:solidFill>
                <a:latin typeface="Calibri"/>
                <a:ea typeface="Calibri"/>
              </a:rPr>
              <a:t>, </a:t>
            </a:r>
            <a:r>
              <a:rPr sz="1350" b="1" i="0">
                <a:solidFill>
                  <a:srgbClr val="B02A5B"/>
                </a:solidFill>
                <a:latin typeface="Consolas"/>
                <a:ea typeface="Consolas"/>
              </a:rPr>
              <a:t>uint16_t</a:t>
            </a:r>
            <a:r>
              <a:rPr sz="1450" b="0" i="0">
                <a:solidFill>
                  <a:srgbClr val="3C4655"/>
                </a:solidFill>
                <a:latin typeface="Calibri"/>
                <a:ea typeface="Calibri"/>
              </a:rPr>
              <a:t>, </a:t>
            </a:r>
            <a:r>
              <a:rPr sz="1350" b="1" i="0">
                <a:solidFill>
                  <a:srgbClr val="B02A5B"/>
                </a:solidFill>
                <a:latin typeface="Consolas"/>
                <a:ea typeface="Consolas"/>
              </a:rPr>
              <a:t>int32_t</a:t>
            </a:r>
            <a:r>
              <a:rPr sz="1450" b="0" i="0">
                <a:solidFill>
                  <a:srgbClr val="3C4655"/>
                </a:solidFill>
                <a:latin typeface="Calibri"/>
                <a:ea typeface="Calibri"/>
              </a:rPr>
              <a:t>, </a:t>
            </a:r>
            <a:r>
              <a:rPr sz="1350" b="1" i="0">
                <a:solidFill>
                  <a:srgbClr val="B02A5B"/>
                </a:solidFill>
                <a:latin typeface="Consolas"/>
                <a:ea typeface="Consolas"/>
              </a:rPr>
              <a:t>int64_t</a:t>
            </a:r>
            <a:r>
              <a:rPr sz="1450" b="0" i="0">
                <a:solidFill>
                  <a:srgbClr val="3C4655"/>
                </a:solidFill>
                <a:latin typeface="Calibri"/>
                <a:ea typeface="Calibri"/>
              </a:rPr>
              <a:t> — C99 </a:t>
            </a:r>
            <a:r>
              <a:rPr sz="1350" b="1" i="0">
                <a:solidFill>
                  <a:srgbClr val="B02A5B"/>
                </a:solidFill>
                <a:latin typeface="Consolas"/>
                <a:ea typeface="Consolas"/>
              </a:rPr>
              <a:t>&lt;stdint.h&gt;</a:t>
            </a:r>
            <a:r>
              <a:rPr sz="1450" b="0" i="0">
                <a:solidFill>
                  <a:srgbClr val="3C4655"/>
                </a:solidFill>
                <a:latin typeface="Calibri"/>
                <a:ea typeface="Calibri"/>
              </a:rPr>
              <a:t>, C++11 </a:t>
            </a:r>
            <a:r>
              <a:rPr sz="1350" b="1" i="0">
                <a:solidFill>
                  <a:srgbClr val="B02A5B"/>
                </a:solidFill>
                <a:latin typeface="Consolas"/>
                <a:ea typeface="Consolas"/>
              </a:rPr>
              <a:t>&lt;cstdint&gt;</a:t>
            </a:r>
          </a:p>
          <a:p>
            <a:pPr marL="228600" indent="-228600">
              <a:lnSpc>
                <a:spcPct val="112000"/>
              </a:lnSpc>
              <a:spcBef>
                <a:spcPts val="1200"/>
              </a:spcBef>
              <a:buClr>
                <a:srgbClr val="2D9CDB"/>
              </a:buClr>
              <a:buFont typeface="Arial" pitchFamily="34" charset="0"/>
              <a:buChar char="•"/>
            </a:pPr>
            <a:r>
              <a:rPr sz="1450" b="0" i="0">
                <a:solidFill>
                  <a:srgbClr val="3C4655"/>
                </a:solidFill>
                <a:latin typeface="Calibri"/>
                <a:ea typeface="Calibri"/>
              </a:rPr>
              <a:t>Их стоит применять, когда размер важен: протоколы, файловые форматы, «железо»</a:t>
            </a:r>
          </a:p>
        </p:txBody>
      </p:sp>
      <p:sp>
        <p:nvSpPr>
          <p:cNvPr id="8" name="Rectangle 7"/>
          <p:cNvSpPr/>
          <p:nvPr/>
        </p:nvSpPr>
        <p:spPr>
          <a:xfrm>
            <a:off x="5989320" y="1417320"/>
            <a:ext cx="5669280" cy="3383280"/>
          </a:xfrm>
          <a:prstGeom prst="rect">
            <a:avLst/>
          </a:prstGeom>
          <a:solidFill>
            <a:srgbClr val="F3F6FA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89320" y="1417320"/>
            <a:ext cx="64008" cy="338328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45352" y="1563624"/>
            <a:ext cx="521208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8000"/>
              </a:lnSpc>
              <a:defRPr sz="1250">
                <a:latin typeface="Consolas"/>
              </a:defRPr>
            </a:pPr>
            <a:r>
              <a:rPr sz="1250" b="0" i="0">
                <a:solidFill>
                  <a:srgbClr val="267F99"/>
                </a:solidFill>
                <a:latin typeface="Consolas"/>
                <a:ea typeface="Consolas"/>
              </a:rPr>
              <a:t>short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s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=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098658"/>
                </a:solidFill>
                <a:latin typeface="Consolas"/>
                <a:ea typeface="Consolas"/>
              </a:rPr>
              <a:t>32000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;</a:t>
            </a:r>
          </a:p>
          <a:p>
            <a:pPr>
              <a:lnSpc>
                <a:spcPct val="118000"/>
              </a:lnSpc>
              <a:defRPr sz="1250">
                <a:latin typeface="Consolas"/>
              </a:defRPr>
            </a:pPr>
            <a:r>
              <a:rPr sz="1250" b="0" i="0">
                <a:solidFill>
                  <a:srgbClr val="267F99"/>
                </a:solidFill>
                <a:latin typeface="Consolas"/>
                <a:ea typeface="Consolas"/>
              </a:rPr>
              <a:t>long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l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=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098658"/>
                </a:solidFill>
                <a:latin typeface="Consolas"/>
                <a:ea typeface="Consolas"/>
              </a:rPr>
              <a:t>1234567890L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;</a:t>
            </a:r>
          </a:p>
          <a:p>
            <a:pPr>
              <a:lnSpc>
                <a:spcPct val="118000"/>
              </a:lnSpc>
              <a:defRPr sz="1250">
                <a:latin typeface="Consolas"/>
              </a:defRPr>
            </a:pPr>
            <a:r>
              <a:rPr sz="1250" b="0" i="0">
                <a:solidFill>
                  <a:srgbClr val="267F99"/>
                </a:solidFill>
                <a:latin typeface="Consolas"/>
                <a:ea typeface="Consolas"/>
              </a:rPr>
              <a:t>unsigned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267F99"/>
                </a:solidFill>
                <a:latin typeface="Consolas"/>
                <a:ea typeface="Consolas"/>
              </a:rPr>
              <a:t>int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u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=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098658"/>
                </a:solidFill>
                <a:latin typeface="Consolas"/>
                <a:ea typeface="Consolas"/>
              </a:rPr>
              <a:t>4000000000u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;</a:t>
            </a:r>
          </a:p>
          <a:p>
            <a:pPr>
              <a:lnSpc>
                <a:spcPct val="118000"/>
              </a:lnSpc>
              <a:defRPr sz="1250">
                <a:latin typeface="Consolas"/>
              </a:defRPr>
            </a:pP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</a:p>
          <a:p>
            <a:pPr>
              <a:lnSpc>
                <a:spcPct val="118000"/>
              </a:lnSpc>
              <a:defRPr sz="1250">
                <a:latin typeface="Consolas"/>
              </a:defRPr>
            </a:pPr>
            <a:r>
              <a:rPr sz="1250" b="0" i="0">
                <a:solidFill>
                  <a:srgbClr val="6F42C1"/>
                </a:solidFill>
                <a:latin typeface="Consolas"/>
                <a:ea typeface="Consolas"/>
              </a:rPr>
              <a:t>#include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&lt;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stdint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.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h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&gt;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      </a:t>
            </a:r>
            <a:r>
              <a:rPr sz="1250" b="0" i="1">
                <a:solidFill>
                  <a:srgbClr val="2E8540"/>
                </a:solidFill>
                <a:latin typeface="Consolas"/>
                <a:ea typeface="Consolas"/>
              </a:rPr>
              <a:t>// C99 / &lt;cstdint&gt; C++11</a:t>
            </a:r>
          </a:p>
          <a:p>
            <a:pPr>
              <a:lnSpc>
                <a:spcPct val="118000"/>
              </a:lnSpc>
              <a:defRPr sz="1250">
                <a:latin typeface="Consolas"/>
              </a:defRPr>
            </a:pPr>
            <a:r>
              <a:rPr sz="1250" b="0" i="0">
                <a:solidFill>
                  <a:srgbClr val="267F99"/>
                </a:solidFill>
                <a:latin typeface="Consolas"/>
                <a:ea typeface="Consolas"/>
              </a:rPr>
              <a:t>int32_t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 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x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  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=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-2147483648;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 </a:t>
            </a:r>
            <a:r>
              <a:rPr sz="1250" b="0" i="1">
                <a:solidFill>
                  <a:srgbClr val="2E8540"/>
                </a:solidFill>
                <a:latin typeface="Consolas"/>
                <a:ea typeface="Consolas"/>
              </a:rPr>
              <a:t>// ровно 4 байта</a:t>
            </a:r>
          </a:p>
          <a:p>
            <a:pPr>
              <a:lnSpc>
                <a:spcPct val="118000"/>
              </a:lnSpc>
              <a:defRPr sz="1250">
                <a:latin typeface="Consolas"/>
              </a:defRPr>
            </a:pPr>
            <a:r>
              <a:rPr sz="1250" b="0" i="0">
                <a:solidFill>
                  <a:srgbClr val="267F99"/>
                </a:solidFill>
                <a:latin typeface="Consolas"/>
                <a:ea typeface="Consolas"/>
              </a:rPr>
              <a:t>uint64_t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big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=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098658"/>
                </a:solidFill>
                <a:latin typeface="Consolas"/>
                <a:ea typeface="Consolas"/>
              </a:rPr>
              <a:t>1000000000000ULL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;</a:t>
            </a:r>
          </a:p>
          <a:p>
            <a:pPr>
              <a:lnSpc>
                <a:spcPct val="118000"/>
              </a:lnSpc>
              <a:defRPr sz="1250">
                <a:latin typeface="Consolas"/>
              </a:defRPr>
            </a:pP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</a:p>
          <a:p>
            <a:pPr>
              <a:lnSpc>
                <a:spcPct val="118000"/>
              </a:lnSpc>
              <a:defRPr sz="1250">
                <a:latin typeface="Consolas"/>
              </a:defRPr>
            </a:pPr>
            <a:r>
              <a:rPr sz="1250" b="0" i="0">
                <a:solidFill>
                  <a:srgbClr val="795E26"/>
                </a:solidFill>
                <a:latin typeface="Consolas"/>
                <a:ea typeface="Consolas"/>
              </a:rPr>
              <a:t>printf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(</a:t>
            </a:r>
            <a:r>
              <a:rPr sz="1250" b="0" i="0">
                <a:solidFill>
                  <a:srgbClr val="A31515"/>
                </a:solidFill>
                <a:latin typeface="Consolas"/>
                <a:ea typeface="Consolas"/>
              </a:rPr>
              <a:t>"%zu\n"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,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0B57D0"/>
                </a:solidFill>
                <a:latin typeface="Consolas"/>
                <a:ea typeface="Consolas"/>
              </a:rPr>
              <a:t>sizeof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(</a:t>
            </a:r>
            <a:r>
              <a:rPr sz="1250" b="0" i="0">
                <a:solidFill>
                  <a:srgbClr val="267F99"/>
                </a:solidFill>
                <a:latin typeface="Consolas"/>
                <a:ea typeface="Consolas"/>
              </a:rPr>
              <a:t>int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));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  </a:t>
            </a:r>
            <a:r>
              <a:rPr sz="1250" b="0" i="1">
                <a:solidFill>
                  <a:srgbClr val="2E8540"/>
                </a:solidFill>
                <a:latin typeface="Consolas"/>
                <a:ea typeface="Consolas"/>
              </a:rPr>
              <a:t>// как правило,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21240" y="1472184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8A94A6"/>
                </a:solidFill>
                <a:latin typeface="Consolas"/>
                <a:ea typeface="Consolas"/>
              </a:rPr>
              <a:t>ints.c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 i="0">
                <a:solidFill>
                  <a:srgbClr val="1F3050"/>
                </a:solidFill>
                <a:latin typeface="Calibri"/>
                <a:ea typeface="Calibri"/>
              </a:rPr>
              <a:t>Вещественные типы (с плавающей точкой)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24128"/>
            <a:ext cx="1371600" cy="50292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993392" y="1024128"/>
            <a:ext cx="320040" cy="50292"/>
          </a:xfrm>
          <a:prstGeom prst="rect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0" i="0">
                <a:solidFill>
                  <a:srgbClr val="8A94A6"/>
                </a:solidFill>
                <a:latin typeface="Calibri"/>
                <a:ea typeface="Calibri"/>
              </a:rPr>
              <a:t>Типы переменных в C и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37376"/>
            <a:ext cx="502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2D9CDB"/>
                </a:solidFill>
                <a:latin typeface="Calibri"/>
                <a:ea typeface="Calibr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5212080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28600" indent="-228600">
              <a:lnSpc>
                <a:spcPct val="112000"/>
              </a:lnSpc>
              <a:spcBef>
                <a:spcPts val="1200"/>
              </a:spcBef>
              <a:buClr>
                <a:srgbClr val="2D9CDB"/>
              </a:buClr>
              <a:buFont typeface="Arial" pitchFamily="34" charset="0"/>
              <a:buChar char="•"/>
            </a:pPr>
            <a:r>
              <a:rPr sz="1450" b="1" i="0">
                <a:solidFill>
                  <a:srgbClr val="26334A"/>
                </a:solidFill>
                <a:latin typeface="Calibri"/>
                <a:ea typeface="Calibri"/>
              </a:rPr>
              <a:t>float </a:t>
            </a:r>
            <a:r>
              <a:rPr sz="1450" b="0" i="0">
                <a:solidFill>
                  <a:srgbClr val="3C4655"/>
                </a:solidFill>
                <a:latin typeface="Calibri"/>
                <a:ea typeface="Calibri"/>
              </a:rPr>
              <a:t>— 4 байта, ≈ 6–7 значащих цифр; литерал с суффиксом </a:t>
            </a:r>
            <a:r>
              <a:rPr sz="1350" b="1" i="0">
                <a:solidFill>
                  <a:srgbClr val="B02A5B"/>
                </a:solidFill>
                <a:latin typeface="Consolas"/>
                <a:ea typeface="Consolas"/>
              </a:rPr>
              <a:t>f</a:t>
            </a:r>
            <a:r>
              <a:rPr sz="1450" b="0" i="0">
                <a:solidFill>
                  <a:srgbClr val="3C4655"/>
                </a:solidFill>
                <a:latin typeface="Calibri"/>
                <a:ea typeface="Calibri"/>
              </a:rPr>
              <a:t>: </a:t>
            </a:r>
            <a:r>
              <a:rPr sz="1350" b="1" i="0">
                <a:solidFill>
                  <a:srgbClr val="B02A5B"/>
                </a:solidFill>
                <a:latin typeface="Consolas"/>
                <a:ea typeface="Consolas"/>
              </a:rPr>
              <a:t>3.14f</a:t>
            </a:r>
          </a:p>
          <a:p>
            <a:pPr marL="228600" indent="-228600">
              <a:lnSpc>
                <a:spcPct val="112000"/>
              </a:lnSpc>
              <a:spcBef>
                <a:spcPts val="1200"/>
              </a:spcBef>
              <a:buClr>
                <a:srgbClr val="2D9CDB"/>
              </a:buClr>
              <a:buFont typeface="Arial" pitchFamily="34" charset="0"/>
              <a:buChar char="•"/>
            </a:pPr>
            <a:r>
              <a:rPr sz="1450" b="1" i="0">
                <a:solidFill>
                  <a:srgbClr val="26334A"/>
                </a:solidFill>
                <a:latin typeface="Calibri"/>
                <a:ea typeface="Calibri"/>
              </a:rPr>
              <a:t>double </a:t>
            </a:r>
            <a:r>
              <a:rPr sz="1450" b="0" i="0">
                <a:solidFill>
                  <a:srgbClr val="3C4655"/>
                </a:solidFill>
                <a:latin typeface="Calibri"/>
                <a:ea typeface="Calibri"/>
              </a:rPr>
              <a:t>— 8 байт, ≈ 15–17 цифр; тип по умолчанию и лучший выбор «на каждый день»</a:t>
            </a:r>
          </a:p>
          <a:p>
            <a:pPr marL="228600" indent="-228600">
              <a:lnSpc>
                <a:spcPct val="112000"/>
              </a:lnSpc>
              <a:spcBef>
                <a:spcPts val="1200"/>
              </a:spcBef>
              <a:buClr>
                <a:srgbClr val="2D9CDB"/>
              </a:buClr>
              <a:buFont typeface="Arial" pitchFamily="34" charset="0"/>
              <a:buChar char="•"/>
            </a:pPr>
            <a:r>
              <a:rPr sz="1450" b="1" i="0">
                <a:solidFill>
                  <a:srgbClr val="26334A"/>
                </a:solidFill>
                <a:latin typeface="Calibri"/>
                <a:ea typeface="Calibri"/>
              </a:rPr>
              <a:t>long double </a:t>
            </a:r>
            <a:r>
              <a:rPr sz="1450" b="0" i="0">
                <a:solidFill>
                  <a:srgbClr val="3C4655"/>
                </a:solidFill>
                <a:latin typeface="Calibri"/>
                <a:ea typeface="Calibri"/>
              </a:rPr>
              <a:t>— 8–16 байт, расширенная точность (зависит от платформы)</a:t>
            </a:r>
          </a:p>
          <a:p>
            <a:pPr marL="228600" indent="-228600">
              <a:lnSpc>
                <a:spcPct val="112000"/>
              </a:lnSpc>
              <a:spcBef>
                <a:spcPts val="1200"/>
              </a:spcBef>
              <a:buClr>
                <a:srgbClr val="2D9CDB"/>
              </a:buClr>
              <a:buFont typeface="Arial" pitchFamily="34" charset="0"/>
              <a:buChar char="•"/>
            </a:pPr>
            <a:r>
              <a:rPr sz="1450" b="0" i="0">
                <a:solidFill>
                  <a:srgbClr val="3C4655"/>
                </a:solidFill>
                <a:latin typeface="Calibri"/>
                <a:ea typeface="Calibri"/>
              </a:rPr>
              <a:t>Формат IEEE 754: не любая десятичная дробь представима точно</a:t>
            </a:r>
          </a:p>
          <a:p>
            <a:pPr marL="228600" indent="-228600">
              <a:lnSpc>
                <a:spcPct val="112000"/>
              </a:lnSpc>
              <a:spcBef>
                <a:spcPts val="1200"/>
              </a:spcBef>
              <a:buClr>
                <a:srgbClr val="2D9CDB"/>
              </a:buClr>
              <a:buFont typeface="Arial" pitchFamily="34" charset="0"/>
              <a:buChar char="•"/>
            </a:pPr>
            <a:r>
              <a:rPr sz="1450" b="0" i="0">
                <a:solidFill>
                  <a:srgbClr val="3C4655"/>
                </a:solidFill>
                <a:latin typeface="Calibri"/>
                <a:ea typeface="Calibri"/>
              </a:rPr>
              <a:t>Нельзя сравнивать на равенство </a:t>
            </a:r>
            <a:r>
              <a:rPr sz="1350" b="1" i="0">
                <a:solidFill>
                  <a:srgbClr val="B02A5B"/>
                </a:solidFill>
                <a:latin typeface="Consolas"/>
                <a:ea typeface="Consolas"/>
              </a:rPr>
              <a:t>==</a:t>
            </a:r>
            <a:r>
              <a:rPr sz="1450" b="0" i="0">
                <a:solidFill>
                  <a:srgbClr val="3C4655"/>
                </a:solidFill>
                <a:latin typeface="Calibri"/>
                <a:ea typeface="Calibri"/>
              </a:rPr>
              <a:t> — сравнивайте разность с допуском: </a:t>
            </a:r>
            <a:r>
              <a:rPr sz="1350" b="1" i="0">
                <a:solidFill>
                  <a:srgbClr val="B02A5B"/>
                </a:solidFill>
                <a:latin typeface="Consolas"/>
                <a:ea typeface="Consolas"/>
              </a:rPr>
              <a:t>fabs(a - b) &lt; eps</a:t>
            </a:r>
          </a:p>
        </p:txBody>
      </p:sp>
      <p:sp>
        <p:nvSpPr>
          <p:cNvPr id="8" name="Rectangle 7"/>
          <p:cNvSpPr/>
          <p:nvPr/>
        </p:nvSpPr>
        <p:spPr>
          <a:xfrm>
            <a:off x="5989320" y="1417320"/>
            <a:ext cx="5669280" cy="3017520"/>
          </a:xfrm>
          <a:prstGeom prst="rect">
            <a:avLst/>
          </a:prstGeom>
          <a:solidFill>
            <a:srgbClr val="F3F6FA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89320" y="1417320"/>
            <a:ext cx="64008" cy="301752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45352" y="1563624"/>
            <a:ext cx="52120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8000"/>
              </a:lnSpc>
              <a:defRPr sz="1250">
                <a:latin typeface="Consolas"/>
              </a:defRPr>
            </a:pPr>
            <a:r>
              <a:rPr sz="1250" b="0" i="0">
                <a:solidFill>
                  <a:srgbClr val="267F99"/>
                </a:solidFill>
                <a:latin typeface="Consolas"/>
                <a:ea typeface="Consolas"/>
              </a:rPr>
              <a:t>float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 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f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=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098658"/>
                </a:solidFill>
                <a:latin typeface="Consolas"/>
                <a:ea typeface="Consolas"/>
              </a:rPr>
              <a:t>3.14f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;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              </a:t>
            </a:r>
            <a:r>
              <a:rPr sz="1250" b="0" i="1">
                <a:solidFill>
                  <a:srgbClr val="2E8540"/>
                </a:solidFill>
                <a:latin typeface="Consolas"/>
                <a:ea typeface="Consolas"/>
              </a:rPr>
              <a:t>// 4 байта</a:t>
            </a:r>
          </a:p>
          <a:p>
            <a:pPr>
              <a:lnSpc>
                <a:spcPct val="118000"/>
              </a:lnSpc>
              <a:defRPr sz="1250">
                <a:latin typeface="Consolas"/>
              </a:defRPr>
            </a:pPr>
            <a:r>
              <a:rPr sz="1250" b="0" i="0">
                <a:solidFill>
                  <a:srgbClr val="267F99"/>
                </a:solidFill>
                <a:latin typeface="Consolas"/>
                <a:ea typeface="Consolas"/>
              </a:rPr>
              <a:t>double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d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=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098658"/>
                </a:solidFill>
                <a:latin typeface="Consolas"/>
                <a:ea typeface="Consolas"/>
              </a:rPr>
              <a:t>3.141592653589793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;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  </a:t>
            </a:r>
            <a:r>
              <a:rPr sz="1250" b="0" i="1">
                <a:solidFill>
                  <a:srgbClr val="2E8540"/>
                </a:solidFill>
                <a:latin typeface="Consolas"/>
                <a:ea typeface="Consolas"/>
              </a:rPr>
              <a:t>// 8 байт</a:t>
            </a:r>
          </a:p>
          <a:p>
            <a:pPr>
              <a:lnSpc>
                <a:spcPct val="118000"/>
              </a:lnSpc>
              <a:defRPr sz="1250">
                <a:latin typeface="Consolas"/>
              </a:defRPr>
            </a:pP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</a:p>
          <a:p>
            <a:pPr>
              <a:lnSpc>
                <a:spcPct val="118000"/>
              </a:lnSpc>
              <a:defRPr sz="1250">
                <a:latin typeface="Consolas"/>
              </a:defRPr>
            </a:pPr>
            <a:r>
              <a:rPr sz="1250" b="0" i="0">
                <a:solidFill>
                  <a:srgbClr val="267F99"/>
                </a:solidFill>
                <a:latin typeface="Consolas"/>
                <a:ea typeface="Consolas"/>
              </a:rPr>
              <a:t>double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s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=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098658"/>
                </a:solidFill>
                <a:latin typeface="Consolas"/>
                <a:ea typeface="Consolas"/>
              </a:rPr>
              <a:t>0.1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+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098658"/>
                </a:solidFill>
                <a:latin typeface="Consolas"/>
                <a:ea typeface="Consolas"/>
              </a:rPr>
              <a:t>0.2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;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  </a:t>
            </a:r>
            <a:r>
              <a:rPr sz="1250" b="0" i="1">
                <a:solidFill>
                  <a:srgbClr val="2E8540"/>
                </a:solidFill>
                <a:latin typeface="Consolas"/>
                <a:ea typeface="Consolas"/>
              </a:rPr>
              <a:t>// 0.30000000000000004 (!)</a:t>
            </a:r>
          </a:p>
          <a:p>
            <a:pPr>
              <a:lnSpc>
                <a:spcPct val="118000"/>
              </a:lnSpc>
              <a:defRPr sz="1250">
                <a:latin typeface="Consolas"/>
              </a:defRPr>
            </a:pP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</a:p>
          <a:p>
            <a:pPr>
              <a:lnSpc>
                <a:spcPct val="118000"/>
              </a:lnSpc>
              <a:defRPr sz="1250">
                <a:latin typeface="Consolas"/>
              </a:defRPr>
            </a:pPr>
            <a:r>
              <a:rPr sz="1250" b="0" i="0">
                <a:solidFill>
                  <a:srgbClr val="0B57D0"/>
                </a:solidFill>
                <a:latin typeface="Consolas"/>
                <a:ea typeface="Consolas"/>
              </a:rPr>
              <a:t>if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(</a:t>
            </a:r>
            <a:r>
              <a:rPr sz="1250" b="0" i="0">
                <a:solidFill>
                  <a:srgbClr val="795E26"/>
                </a:solidFill>
                <a:latin typeface="Consolas"/>
                <a:ea typeface="Consolas"/>
              </a:rPr>
              <a:t>fabs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(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s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-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098658"/>
                </a:solidFill>
                <a:latin typeface="Consolas"/>
                <a:ea typeface="Consolas"/>
              </a:rPr>
              <a:t>0.3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)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&lt;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098658"/>
                </a:solidFill>
                <a:latin typeface="Consolas"/>
                <a:ea typeface="Consolas"/>
              </a:rPr>
              <a:t>1e-9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)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{</a:t>
            </a:r>
          </a:p>
          <a:p>
            <a:pPr>
              <a:lnSpc>
                <a:spcPct val="118000"/>
              </a:lnSpc>
              <a:defRPr sz="1250">
                <a:latin typeface="Consolas"/>
              </a:defRPr>
            </a:pP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   </a:t>
            </a:r>
            <a:r>
              <a:rPr sz="1250" b="0" i="0">
                <a:solidFill>
                  <a:srgbClr val="795E26"/>
                </a:solidFill>
                <a:latin typeface="Consolas"/>
                <a:ea typeface="Consolas"/>
              </a:rPr>
              <a:t>printf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(</a:t>
            </a:r>
            <a:r>
              <a:rPr sz="1250" b="0" i="0">
                <a:solidFill>
                  <a:srgbClr val="A31515"/>
                </a:solidFill>
                <a:latin typeface="Consolas"/>
                <a:ea typeface="Consolas"/>
              </a:rPr>
              <a:t>"равны\n"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);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 </a:t>
            </a:r>
            <a:r>
              <a:rPr sz="1250" b="0" i="1">
                <a:solidFill>
                  <a:srgbClr val="2E8540"/>
                </a:solidFill>
                <a:latin typeface="Consolas"/>
                <a:ea typeface="Consolas"/>
              </a:rPr>
              <a:t>// корректное сравнение</a:t>
            </a:r>
          </a:p>
          <a:p>
            <a:pPr>
              <a:lnSpc>
                <a:spcPct val="118000"/>
              </a:lnSpc>
              <a:defRPr sz="1250">
                <a:latin typeface="Consolas"/>
              </a:defRPr>
            </a:pP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21240" y="1472184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8A94A6"/>
                </a:solidFill>
                <a:latin typeface="Consolas"/>
                <a:ea typeface="Consolas"/>
              </a:rPr>
              <a:t>floats.c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 i="0">
                <a:solidFill>
                  <a:srgbClr val="1F3050"/>
                </a:solidFill>
                <a:latin typeface="Calibri"/>
                <a:ea typeface="Calibri"/>
              </a:rPr>
              <a:t>Логический и символьные типы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24128"/>
            <a:ext cx="1371600" cy="50292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993392" y="1024128"/>
            <a:ext cx="320040" cy="50292"/>
          </a:xfrm>
          <a:prstGeom prst="rect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0" i="0">
                <a:solidFill>
                  <a:srgbClr val="8A94A6"/>
                </a:solidFill>
                <a:latin typeface="Calibri"/>
                <a:ea typeface="Calibri"/>
              </a:rPr>
              <a:t>Типы переменных в C и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37376"/>
            <a:ext cx="502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2D9CDB"/>
                </a:solidFill>
                <a:latin typeface="Calibri"/>
                <a:ea typeface="Calibr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5212080" cy="484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28600" indent="-228600">
              <a:lnSpc>
                <a:spcPct val="112000"/>
              </a:lnSpc>
              <a:spcBef>
                <a:spcPts val="1000"/>
              </a:spcBef>
              <a:buClr>
                <a:srgbClr val="2D9CDB"/>
              </a:buClr>
              <a:buFont typeface="Arial" pitchFamily="34" charset="0"/>
              <a:buChar char="•"/>
            </a:pPr>
            <a:r>
              <a:rPr sz="1400" b="1" i="0">
                <a:solidFill>
                  <a:srgbClr val="26334A"/>
                </a:solidFill>
                <a:latin typeface="Calibri"/>
                <a:ea typeface="Calibri"/>
              </a:rPr>
              <a:t>C++: </a:t>
            </a:r>
            <a:r>
              <a:rPr sz="1400" b="0" i="0">
                <a:solidFill>
                  <a:srgbClr val="3C4655"/>
                </a:solidFill>
                <a:latin typeface="Calibri"/>
                <a:ea typeface="Calibri"/>
              </a:rPr>
              <a:t> </a:t>
            </a:r>
            <a:r>
              <a:rPr sz="1300" b="1" i="0">
                <a:solidFill>
                  <a:srgbClr val="B02A5B"/>
                </a:solidFill>
                <a:latin typeface="Consolas"/>
                <a:ea typeface="Consolas"/>
              </a:rPr>
              <a:t>bool</a:t>
            </a:r>
            <a:r>
              <a:rPr sz="1400" b="0" i="0">
                <a:solidFill>
                  <a:srgbClr val="3C4655"/>
                </a:solidFill>
                <a:latin typeface="Calibri"/>
                <a:ea typeface="Calibri"/>
              </a:rPr>
              <a:t> — встроенный тип, значения </a:t>
            </a:r>
            <a:r>
              <a:rPr sz="1300" b="1" i="0">
                <a:solidFill>
                  <a:srgbClr val="B02A5B"/>
                </a:solidFill>
                <a:latin typeface="Consolas"/>
                <a:ea typeface="Consolas"/>
              </a:rPr>
              <a:t>true</a:t>
            </a:r>
            <a:r>
              <a:rPr sz="1400" b="0" i="0">
                <a:solidFill>
                  <a:srgbClr val="3C4655"/>
                </a:solidFill>
                <a:latin typeface="Calibri"/>
                <a:ea typeface="Calibri"/>
              </a:rPr>
              <a:t> / </a:t>
            </a:r>
            <a:r>
              <a:rPr sz="1300" b="1" i="0">
                <a:solidFill>
                  <a:srgbClr val="B02A5B"/>
                </a:solidFill>
                <a:latin typeface="Consolas"/>
                <a:ea typeface="Consolas"/>
              </a:rPr>
              <a:t>false</a:t>
            </a:r>
            <a:r>
              <a:rPr sz="1400" b="0" i="0">
                <a:solidFill>
                  <a:srgbClr val="3C4655"/>
                </a:solidFill>
                <a:latin typeface="Calibri"/>
                <a:ea typeface="Calibri"/>
              </a:rPr>
              <a:t>, размер 1 байт</a:t>
            </a:r>
          </a:p>
          <a:p>
            <a:pPr marL="228600" indent="-228600">
              <a:lnSpc>
                <a:spcPct val="112000"/>
              </a:lnSpc>
              <a:spcBef>
                <a:spcPts val="1000"/>
              </a:spcBef>
              <a:buClr>
                <a:srgbClr val="2D9CDB"/>
              </a:buClr>
              <a:buFont typeface="Arial" pitchFamily="34" charset="0"/>
              <a:buChar char="•"/>
            </a:pPr>
            <a:r>
              <a:rPr sz="1400" b="1" i="0">
                <a:solidFill>
                  <a:srgbClr val="26334A"/>
                </a:solidFill>
                <a:latin typeface="Calibri"/>
                <a:ea typeface="Calibri"/>
              </a:rPr>
              <a:t>C: </a:t>
            </a:r>
            <a:r>
              <a:rPr sz="1400" b="0" i="0">
                <a:solidFill>
                  <a:srgbClr val="3C4655"/>
                </a:solidFill>
                <a:latin typeface="Calibri"/>
                <a:ea typeface="Calibri"/>
              </a:rPr>
              <a:t> с C99 — тип </a:t>
            </a:r>
            <a:r>
              <a:rPr sz="1300" b="1" i="0">
                <a:solidFill>
                  <a:srgbClr val="B02A5B"/>
                </a:solidFill>
                <a:latin typeface="Consolas"/>
                <a:ea typeface="Consolas"/>
              </a:rPr>
              <a:t>_Bool</a:t>
            </a:r>
            <a:r>
              <a:rPr sz="1400" b="0" i="0">
                <a:solidFill>
                  <a:srgbClr val="3C4655"/>
                </a:solidFill>
                <a:latin typeface="Calibri"/>
                <a:ea typeface="Calibri"/>
              </a:rPr>
              <a:t> и макросы </a:t>
            </a:r>
            <a:r>
              <a:rPr sz="1300" b="1" i="0">
                <a:solidFill>
                  <a:srgbClr val="B02A5B"/>
                </a:solidFill>
                <a:latin typeface="Consolas"/>
                <a:ea typeface="Consolas"/>
              </a:rPr>
              <a:t>&lt;stdbool.h&gt;</a:t>
            </a:r>
            <a:r>
              <a:rPr sz="1400" b="0" i="0">
                <a:solidFill>
                  <a:srgbClr val="3C4655"/>
                </a:solidFill>
                <a:latin typeface="Calibri"/>
                <a:ea typeface="Calibri"/>
              </a:rPr>
              <a:t>; с C23 — полноценный </a:t>
            </a:r>
            <a:r>
              <a:rPr sz="1300" b="1" i="0">
                <a:solidFill>
                  <a:srgbClr val="B02A5B"/>
                </a:solidFill>
                <a:latin typeface="Consolas"/>
                <a:ea typeface="Consolas"/>
              </a:rPr>
              <a:t>bool</a:t>
            </a:r>
          </a:p>
          <a:p>
            <a:pPr marL="228600" indent="-228600">
              <a:lnSpc>
                <a:spcPct val="112000"/>
              </a:lnSpc>
              <a:spcBef>
                <a:spcPts val="1000"/>
              </a:spcBef>
              <a:buClr>
                <a:srgbClr val="2D9CDB"/>
              </a:buClr>
              <a:buFont typeface="Arial" pitchFamily="34" charset="0"/>
              <a:buChar char="•"/>
            </a:pPr>
            <a:r>
              <a:rPr sz="1400" b="1" i="0">
                <a:solidFill>
                  <a:srgbClr val="26334A"/>
                </a:solidFill>
                <a:latin typeface="Calibri"/>
                <a:ea typeface="Calibri"/>
              </a:rPr>
              <a:t>char </a:t>
            </a:r>
            <a:r>
              <a:rPr sz="1400" b="0" i="0">
                <a:solidFill>
                  <a:srgbClr val="3C4655"/>
                </a:solidFill>
                <a:latin typeface="Calibri"/>
                <a:ea typeface="Calibri"/>
              </a:rPr>
              <a:t>— 1 байт, хранит код символа: </a:t>
            </a:r>
            <a:r>
              <a:rPr sz="1300" b="1" i="0">
                <a:solidFill>
                  <a:srgbClr val="B02A5B"/>
                </a:solidFill>
                <a:latin typeface="Consolas"/>
                <a:ea typeface="Consolas"/>
              </a:rPr>
              <a:t>'A'</a:t>
            </a:r>
            <a:r>
              <a:rPr sz="1400" b="0" i="0">
                <a:solidFill>
                  <a:srgbClr val="3C4655"/>
                </a:solidFill>
                <a:latin typeface="Calibri"/>
                <a:ea typeface="Calibri"/>
              </a:rPr>
              <a:t> → 65 (таблица ASCII)</a:t>
            </a:r>
          </a:p>
          <a:p>
            <a:pPr marL="228600" indent="-228600">
              <a:lnSpc>
                <a:spcPct val="112000"/>
              </a:lnSpc>
              <a:spcBef>
                <a:spcPts val="1000"/>
              </a:spcBef>
              <a:buClr>
                <a:srgbClr val="2D9CDB"/>
              </a:buClr>
              <a:buFont typeface="Arial" pitchFamily="34" charset="0"/>
              <a:buChar char="•"/>
            </a:pPr>
            <a:r>
              <a:rPr sz="1400" b="0" i="0">
                <a:solidFill>
                  <a:srgbClr val="3C4655"/>
                </a:solidFill>
                <a:latin typeface="Calibri"/>
                <a:ea typeface="Calibri"/>
              </a:rPr>
              <a:t>Знаковость </a:t>
            </a:r>
            <a:r>
              <a:rPr sz="1300" b="1" i="0">
                <a:solidFill>
                  <a:srgbClr val="B02A5B"/>
                </a:solidFill>
                <a:latin typeface="Consolas"/>
                <a:ea typeface="Consolas"/>
              </a:rPr>
              <a:t>char</a:t>
            </a:r>
            <a:r>
              <a:rPr sz="1400" b="0" i="0">
                <a:solidFill>
                  <a:srgbClr val="3C4655"/>
                </a:solidFill>
                <a:latin typeface="Calibri"/>
                <a:ea typeface="Calibri"/>
              </a:rPr>
              <a:t> зависит от реализации; для чисел берите </a:t>
            </a:r>
            <a:r>
              <a:rPr sz="1300" b="1" i="0">
                <a:solidFill>
                  <a:srgbClr val="B02A5B"/>
                </a:solidFill>
                <a:latin typeface="Consolas"/>
                <a:ea typeface="Consolas"/>
              </a:rPr>
              <a:t>int8_t</a:t>
            </a:r>
            <a:r>
              <a:rPr sz="1400" b="0" i="0">
                <a:solidFill>
                  <a:srgbClr val="3C4655"/>
                </a:solidFill>
                <a:latin typeface="Calibri"/>
                <a:ea typeface="Calibri"/>
              </a:rPr>
              <a:t> / </a:t>
            </a:r>
            <a:r>
              <a:rPr sz="1300" b="1" i="0">
                <a:solidFill>
                  <a:srgbClr val="B02A5B"/>
                </a:solidFill>
                <a:latin typeface="Consolas"/>
                <a:ea typeface="Consolas"/>
              </a:rPr>
              <a:t>uint8_t</a:t>
            </a:r>
          </a:p>
          <a:p>
            <a:pPr marL="228600" indent="-228600">
              <a:lnSpc>
                <a:spcPct val="112000"/>
              </a:lnSpc>
              <a:spcBef>
                <a:spcPts val="1000"/>
              </a:spcBef>
              <a:buClr>
                <a:srgbClr val="2D9CDB"/>
              </a:buClr>
              <a:buFont typeface="Arial" pitchFamily="34" charset="0"/>
              <a:buChar char="•"/>
            </a:pPr>
            <a:r>
              <a:rPr sz="1400" b="1" i="0">
                <a:solidFill>
                  <a:srgbClr val="26334A"/>
                </a:solidFill>
                <a:latin typeface="Calibri"/>
                <a:ea typeface="Calibri"/>
              </a:rPr>
              <a:t>Строки: </a:t>
            </a:r>
            <a:r>
              <a:rPr sz="1400" b="0" i="0">
                <a:solidFill>
                  <a:srgbClr val="3C4655"/>
                </a:solidFill>
                <a:latin typeface="Calibri"/>
                <a:ea typeface="Calibri"/>
              </a:rPr>
              <a:t> в C — массив </a:t>
            </a:r>
            <a:r>
              <a:rPr sz="1300" b="1" i="0">
                <a:solidFill>
                  <a:srgbClr val="B02A5B"/>
                </a:solidFill>
                <a:latin typeface="Consolas"/>
                <a:ea typeface="Consolas"/>
              </a:rPr>
              <a:t>char*</a:t>
            </a:r>
            <a:r>
              <a:rPr sz="1400" b="0" i="0">
                <a:solidFill>
                  <a:srgbClr val="3C4655"/>
                </a:solidFill>
                <a:latin typeface="Calibri"/>
                <a:ea typeface="Calibri"/>
              </a:rPr>
              <a:t> с terminator-байтом </a:t>
            </a:r>
            <a:r>
              <a:rPr sz="1300" b="1" i="0">
                <a:solidFill>
                  <a:srgbClr val="B02A5B"/>
                </a:solidFill>
                <a:latin typeface="Consolas"/>
                <a:ea typeface="Consolas"/>
              </a:rPr>
              <a:t>'\0'</a:t>
            </a:r>
            <a:r>
              <a:rPr sz="1400" b="0" i="0">
                <a:solidFill>
                  <a:srgbClr val="3C4655"/>
                </a:solidFill>
                <a:latin typeface="Calibri"/>
                <a:ea typeface="Calibri"/>
              </a:rPr>
              <a:t>; в C++ — класс </a:t>
            </a:r>
            <a:r>
              <a:rPr sz="1300" b="1" i="0">
                <a:solidFill>
                  <a:srgbClr val="B02A5B"/>
                </a:solidFill>
                <a:latin typeface="Consolas"/>
                <a:ea typeface="Consolas"/>
              </a:rPr>
              <a:t>std::string</a:t>
            </a:r>
          </a:p>
          <a:p>
            <a:pPr marL="228600" indent="-228600">
              <a:lnSpc>
                <a:spcPct val="112000"/>
              </a:lnSpc>
              <a:spcBef>
                <a:spcPts val="1000"/>
              </a:spcBef>
              <a:buClr>
                <a:srgbClr val="2D9CDB"/>
              </a:buClr>
              <a:buFont typeface="Arial" pitchFamily="34" charset="0"/>
              <a:buChar char="•"/>
            </a:pPr>
            <a:r>
              <a:rPr sz="1400" b="1" i="0">
                <a:solidFill>
                  <a:srgbClr val="26334A"/>
                </a:solidFill>
                <a:latin typeface="Calibri"/>
                <a:ea typeface="Calibri"/>
              </a:rPr>
              <a:t>C++: </a:t>
            </a:r>
            <a:r>
              <a:rPr sz="1400" b="0" i="0">
                <a:solidFill>
                  <a:srgbClr val="3C4655"/>
                </a:solidFill>
                <a:latin typeface="Calibri"/>
                <a:ea typeface="Calibri"/>
              </a:rPr>
              <a:t> дополнительно </a:t>
            </a:r>
            <a:r>
              <a:rPr sz="1300" b="1" i="0">
                <a:solidFill>
                  <a:srgbClr val="B02A5B"/>
                </a:solidFill>
                <a:latin typeface="Consolas"/>
                <a:ea typeface="Consolas"/>
              </a:rPr>
              <a:t>wchar_t</a:t>
            </a:r>
            <a:r>
              <a:rPr sz="1400" b="0" i="0">
                <a:solidFill>
                  <a:srgbClr val="3C4655"/>
                </a:solidFill>
                <a:latin typeface="Calibri"/>
                <a:ea typeface="Calibri"/>
              </a:rPr>
              <a:t>, </a:t>
            </a:r>
            <a:r>
              <a:rPr sz="1300" b="1" i="0">
                <a:solidFill>
                  <a:srgbClr val="B02A5B"/>
                </a:solidFill>
                <a:latin typeface="Consolas"/>
                <a:ea typeface="Consolas"/>
              </a:rPr>
              <a:t>char16_t</a:t>
            </a:r>
            <a:r>
              <a:rPr sz="1400" b="0" i="0">
                <a:solidFill>
                  <a:srgbClr val="3C4655"/>
                </a:solidFill>
                <a:latin typeface="Calibri"/>
                <a:ea typeface="Calibri"/>
              </a:rPr>
              <a:t>, </a:t>
            </a:r>
            <a:r>
              <a:rPr sz="1300" b="1" i="0">
                <a:solidFill>
                  <a:srgbClr val="B02A5B"/>
                </a:solidFill>
                <a:latin typeface="Consolas"/>
                <a:ea typeface="Consolas"/>
              </a:rPr>
              <a:t>char32_t</a:t>
            </a:r>
            <a:r>
              <a:rPr sz="1400" b="0" i="0">
                <a:solidFill>
                  <a:srgbClr val="3C4655"/>
                </a:solidFill>
                <a:latin typeface="Calibri"/>
                <a:ea typeface="Calibri"/>
              </a:rPr>
              <a:t> (Unicode, с C++11)</a:t>
            </a:r>
          </a:p>
        </p:txBody>
      </p:sp>
      <p:sp>
        <p:nvSpPr>
          <p:cNvPr id="8" name="Rectangle 7"/>
          <p:cNvSpPr/>
          <p:nvPr/>
        </p:nvSpPr>
        <p:spPr>
          <a:xfrm>
            <a:off x="5989320" y="1417320"/>
            <a:ext cx="5669280" cy="3200400"/>
          </a:xfrm>
          <a:prstGeom prst="rect">
            <a:avLst/>
          </a:prstGeom>
          <a:solidFill>
            <a:srgbClr val="F3F6FA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89320" y="1417320"/>
            <a:ext cx="64008" cy="320040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45352" y="1563624"/>
            <a:ext cx="521208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8000"/>
              </a:lnSpc>
              <a:defRPr sz="1250">
                <a:latin typeface="Consolas"/>
              </a:defRPr>
            </a:pPr>
            <a:r>
              <a:rPr sz="1250" b="0" i="0">
                <a:solidFill>
                  <a:srgbClr val="6F42C1"/>
                </a:solidFill>
                <a:latin typeface="Consolas"/>
                <a:ea typeface="Consolas"/>
              </a:rPr>
              <a:t>#include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&lt;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stdbool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.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h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&gt;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   </a:t>
            </a:r>
            <a:r>
              <a:rPr sz="1250" b="0" i="1">
                <a:solidFill>
                  <a:srgbClr val="2E8540"/>
                </a:solidFill>
                <a:latin typeface="Consolas"/>
                <a:ea typeface="Consolas"/>
              </a:rPr>
              <a:t>// C99</a:t>
            </a:r>
          </a:p>
          <a:p>
            <a:pPr>
              <a:lnSpc>
                <a:spcPct val="118000"/>
              </a:lnSpc>
              <a:defRPr sz="1250">
                <a:latin typeface="Consolas"/>
              </a:defRPr>
            </a:pPr>
            <a:r>
              <a:rPr sz="1250" b="0" i="0">
                <a:solidFill>
                  <a:srgbClr val="267F99"/>
                </a:solidFill>
                <a:latin typeface="Consolas"/>
                <a:ea typeface="Consolas"/>
              </a:rPr>
              <a:t>bool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ready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=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0B57D0"/>
                </a:solidFill>
                <a:latin typeface="Consolas"/>
                <a:ea typeface="Consolas"/>
              </a:rPr>
              <a:t>true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;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     </a:t>
            </a:r>
            <a:r>
              <a:rPr sz="1250" b="0" i="1">
                <a:solidFill>
                  <a:srgbClr val="2E8540"/>
                </a:solidFill>
                <a:latin typeface="Consolas"/>
                <a:ea typeface="Consolas"/>
              </a:rPr>
              <a:t>// в C — через stdbool</a:t>
            </a:r>
          </a:p>
          <a:p>
            <a:pPr>
              <a:lnSpc>
                <a:spcPct val="118000"/>
              </a:lnSpc>
              <a:defRPr sz="1250">
                <a:latin typeface="Consolas"/>
              </a:defRPr>
            </a:pP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</a:p>
          <a:p>
            <a:pPr>
              <a:lnSpc>
                <a:spcPct val="118000"/>
              </a:lnSpc>
              <a:defRPr sz="1250">
                <a:latin typeface="Consolas"/>
              </a:defRPr>
            </a:pPr>
            <a:r>
              <a:rPr sz="1250" b="0" i="0">
                <a:solidFill>
                  <a:srgbClr val="267F99"/>
                </a:solidFill>
                <a:latin typeface="Consolas"/>
                <a:ea typeface="Consolas"/>
              </a:rPr>
              <a:t>char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c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=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A31515"/>
                </a:solidFill>
                <a:latin typeface="Consolas"/>
                <a:ea typeface="Consolas"/>
              </a:rPr>
              <a:t>'A'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;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          </a:t>
            </a:r>
            <a:r>
              <a:rPr sz="1250" b="0" i="1">
                <a:solidFill>
                  <a:srgbClr val="2E8540"/>
                </a:solidFill>
                <a:latin typeface="Consolas"/>
                <a:ea typeface="Consolas"/>
              </a:rPr>
              <a:t>// код символа: 65</a:t>
            </a:r>
          </a:p>
          <a:p>
            <a:pPr>
              <a:lnSpc>
                <a:spcPct val="118000"/>
              </a:lnSpc>
              <a:defRPr sz="1250">
                <a:latin typeface="Consolas"/>
              </a:defRPr>
            </a:pPr>
            <a:r>
              <a:rPr sz="1250" b="0" i="0">
                <a:solidFill>
                  <a:srgbClr val="267F99"/>
                </a:solidFill>
                <a:latin typeface="Consolas"/>
                <a:ea typeface="Consolas"/>
              </a:rPr>
              <a:t>char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word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[]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=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A31515"/>
                </a:solidFill>
                <a:latin typeface="Consolas"/>
                <a:ea typeface="Consolas"/>
              </a:rPr>
              <a:t>"hi"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;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    </a:t>
            </a:r>
            <a:r>
              <a:rPr sz="1250" b="0" i="1">
                <a:solidFill>
                  <a:srgbClr val="2E8540"/>
                </a:solidFill>
                <a:latin typeface="Consolas"/>
                <a:ea typeface="Consolas"/>
              </a:rPr>
              <a:t>// C: 'h','i','\0'</a:t>
            </a:r>
          </a:p>
          <a:p>
            <a:pPr>
              <a:lnSpc>
                <a:spcPct val="118000"/>
              </a:lnSpc>
              <a:defRPr sz="1250">
                <a:latin typeface="Consolas"/>
              </a:defRPr>
            </a:pP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</a:p>
          <a:p>
            <a:pPr>
              <a:lnSpc>
                <a:spcPct val="118000"/>
              </a:lnSpc>
              <a:defRPr sz="1250">
                <a:latin typeface="Consolas"/>
              </a:defRPr>
            </a:pP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std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::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string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s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=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A31515"/>
                </a:solidFill>
                <a:latin typeface="Consolas"/>
                <a:ea typeface="Consolas"/>
              </a:rPr>
              <a:t>"hi"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;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  </a:t>
            </a:r>
            <a:r>
              <a:rPr sz="1250" b="0" i="1">
                <a:solidFill>
                  <a:srgbClr val="2E8540"/>
                </a:solidFill>
                <a:latin typeface="Consolas"/>
                <a:ea typeface="Consolas"/>
              </a:rPr>
              <a:t>// C++: безопасная строка</a:t>
            </a:r>
          </a:p>
          <a:p>
            <a:pPr>
              <a:lnSpc>
                <a:spcPct val="118000"/>
              </a:lnSpc>
              <a:defRPr sz="1250">
                <a:latin typeface="Consolas"/>
              </a:defRPr>
            </a:pPr>
            <a:r>
              <a:rPr sz="1250" b="0" i="0">
                <a:solidFill>
                  <a:srgbClr val="267F99"/>
                </a:solidFill>
                <a:latin typeface="Consolas"/>
                <a:ea typeface="Consolas"/>
              </a:rPr>
              <a:t>wchar_t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w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=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L</a:t>
            </a:r>
            <a:r>
              <a:rPr sz="1250" b="0" i="0">
                <a:solidFill>
                  <a:srgbClr val="A31515"/>
                </a:solidFill>
                <a:latin typeface="Consolas"/>
                <a:ea typeface="Consolas"/>
              </a:rPr>
              <a:t>'Ω'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;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      </a:t>
            </a:r>
            <a:r>
              <a:rPr sz="1250" b="0" i="1">
                <a:solidFill>
                  <a:srgbClr val="2E8540"/>
                </a:solidFill>
                <a:latin typeface="Consolas"/>
                <a:ea typeface="Consolas"/>
              </a:rPr>
              <a:t>// широкий символ (C++)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21240" y="1472184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8A94A6"/>
                </a:solidFill>
                <a:latin typeface="Consolas"/>
                <a:ea typeface="Consolas"/>
              </a:rPr>
              <a:t>bool_char.c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 i="0">
                <a:solidFill>
                  <a:srgbClr val="1F3050"/>
                </a:solidFill>
                <a:latin typeface="Calibri"/>
                <a:ea typeface="Calibri"/>
              </a:rPr>
              <a:t>Производные типы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24128"/>
            <a:ext cx="1371600" cy="50292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993392" y="1024128"/>
            <a:ext cx="320040" cy="50292"/>
          </a:xfrm>
          <a:prstGeom prst="rect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0" i="0">
                <a:solidFill>
                  <a:srgbClr val="8A94A6"/>
                </a:solidFill>
                <a:latin typeface="Calibri"/>
                <a:ea typeface="Calibri"/>
              </a:rPr>
              <a:t>Типы переменных в C и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37376"/>
            <a:ext cx="502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2D9CDB"/>
                </a:solidFill>
                <a:latin typeface="Calibri"/>
                <a:ea typeface="Calibr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5212080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28600" indent="-228600">
              <a:lnSpc>
                <a:spcPct val="112000"/>
              </a:lnSpc>
              <a:spcBef>
                <a:spcPts val="1200"/>
              </a:spcBef>
              <a:buClr>
                <a:srgbClr val="2D9CDB"/>
              </a:buClr>
              <a:buFont typeface="Arial" pitchFamily="34" charset="0"/>
              <a:buChar char="•"/>
            </a:pPr>
            <a:r>
              <a:rPr sz="1450" b="1" i="0">
                <a:solidFill>
                  <a:srgbClr val="26334A"/>
                </a:solidFill>
                <a:latin typeface="Calibri"/>
                <a:ea typeface="Calibri"/>
              </a:rPr>
              <a:t>Массивы </a:t>
            </a:r>
            <a:r>
              <a:rPr sz="1450" b="0" i="0">
                <a:solidFill>
                  <a:srgbClr val="3C4655"/>
                </a:solidFill>
                <a:latin typeface="Calibri"/>
                <a:ea typeface="Calibri"/>
              </a:rPr>
              <a:t>— фиксированная последовательность элементов одного типа: </a:t>
            </a:r>
            <a:r>
              <a:rPr sz="1350" b="1" i="0">
                <a:solidFill>
                  <a:srgbClr val="B02A5B"/>
                </a:solidFill>
                <a:latin typeface="Consolas"/>
                <a:ea typeface="Consolas"/>
              </a:rPr>
              <a:t>int a[10];</a:t>
            </a:r>
          </a:p>
          <a:p>
            <a:pPr marL="228600" indent="-228600">
              <a:lnSpc>
                <a:spcPct val="112000"/>
              </a:lnSpc>
              <a:spcBef>
                <a:spcPts val="1200"/>
              </a:spcBef>
              <a:buClr>
                <a:srgbClr val="2D9CDB"/>
              </a:buClr>
              <a:buFont typeface="Arial" pitchFamily="34" charset="0"/>
              <a:buChar char="•"/>
            </a:pPr>
            <a:r>
              <a:rPr sz="1450" b="1" i="0">
                <a:solidFill>
                  <a:srgbClr val="26334A"/>
                </a:solidFill>
                <a:latin typeface="Calibri"/>
                <a:ea typeface="Calibri"/>
              </a:rPr>
              <a:t>Указатели </a:t>
            </a:r>
            <a:r>
              <a:rPr sz="1450" b="0" i="0">
                <a:solidFill>
                  <a:srgbClr val="3C4655"/>
                </a:solidFill>
                <a:latin typeface="Calibri"/>
                <a:ea typeface="Calibri"/>
              </a:rPr>
              <a:t>— хранят адрес другой переменной: </a:t>
            </a:r>
            <a:r>
              <a:rPr sz="1350" b="1" i="0">
                <a:solidFill>
                  <a:srgbClr val="B02A5B"/>
                </a:solidFill>
                <a:latin typeface="Consolas"/>
                <a:ea typeface="Consolas"/>
              </a:rPr>
              <a:t>int* p = &amp;x;</a:t>
            </a:r>
          </a:p>
          <a:p>
            <a:pPr marL="228600" indent="-228600">
              <a:lnSpc>
                <a:spcPct val="112000"/>
              </a:lnSpc>
              <a:spcBef>
                <a:spcPts val="1200"/>
              </a:spcBef>
              <a:buClr>
                <a:srgbClr val="2D9CDB"/>
              </a:buClr>
              <a:buFont typeface="Arial" pitchFamily="34" charset="0"/>
              <a:buChar char="•"/>
            </a:pPr>
            <a:r>
              <a:rPr sz="1450" b="1" i="0">
                <a:solidFill>
                  <a:srgbClr val="26334A"/>
                </a:solidFill>
                <a:latin typeface="Calibri"/>
                <a:ea typeface="Calibri"/>
              </a:rPr>
              <a:t>Функции </a:t>
            </a:r>
            <a:r>
              <a:rPr sz="1450" b="0" i="0">
                <a:solidFill>
                  <a:srgbClr val="3C4655"/>
                </a:solidFill>
                <a:latin typeface="Calibri"/>
                <a:ea typeface="Calibri"/>
              </a:rPr>
              <a:t>— тип задаётся возвращаемым значением и аргументами: </a:t>
            </a:r>
            <a:r>
              <a:rPr sz="1350" b="1" i="0">
                <a:solidFill>
                  <a:srgbClr val="B02A5B"/>
                </a:solidFill>
                <a:latin typeface="Consolas"/>
                <a:ea typeface="Consolas"/>
              </a:rPr>
              <a:t>int f(double);</a:t>
            </a:r>
          </a:p>
          <a:p>
            <a:pPr marL="228600" indent="-228600">
              <a:lnSpc>
                <a:spcPct val="112000"/>
              </a:lnSpc>
              <a:spcBef>
                <a:spcPts val="1200"/>
              </a:spcBef>
              <a:buClr>
                <a:srgbClr val="2D9CDB"/>
              </a:buClr>
              <a:buFont typeface="Arial" pitchFamily="34" charset="0"/>
              <a:buChar char="•"/>
            </a:pPr>
            <a:r>
              <a:rPr sz="1450" b="1" i="0">
                <a:solidFill>
                  <a:srgbClr val="26334A"/>
                </a:solidFill>
                <a:latin typeface="Calibri"/>
                <a:ea typeface="Calibri"/>
              </a:rPr>
              <a:t>Ссылки (только C++) </a:t>
            </a:r>
            <a:r>
              <a:rPr sz="1450" b="0" i="0">
                <a:solidFill>
                  <a:srgbClr val="3C4655"/>
                </a:solidFill>
                <a:latin typeface="Calibri"/>
                <a:ea typeface="Calibri"/>
              </a:rPr>
              <a:t>— «второе имя» уже существующей переменной: </a:t>
            </a:r>
            <a:r>
              <a:rPr sz="1350" b="1" i="0">
                <a:solidFill>
                  <a:srgbClr val="B02A5B"/>
                </a:solidFill>
                <a:latin typeface="Consolas"/>
                <a:ea typeface="Consolas"/>
              </a:rPr>
              <a:t>int&amp; r = x;</a:t>
            </a:r>
          </a:p>
          <a:p>
            <a:pPr marL="228600" indent="-228600">
              <a:lnSpc>
                <a:spcPct val="112000"/>
              </a:lnSpc>
              <a:spcBef>
                <a:spcPts val="1200"/>
              </a:spcBef>
              <a:buClr>
                <a:srgbClr val="2D9CDB"/>
              </a:buClr>
              <a:buFont typeface="Arial" pitchFamily="34" charset="0"/>
              <a:buChar char="•"/>
            </a:pPr>
            <a:r>
              <a:rPr sz="1450" b="0" i="0">
                <a:solidFill>
                  <a:srgbClr val="3C4655"/>
                </a:solidFill>
                <a:latin typeface="Calibri"/>
                <a:ea typeface="Calibri"/>
              </a:rPr>
              <a:t>Через указатель и ссылку можно изменять саму переменную, а не её копию</a:t>
            </a:r>
          </a:p>
        </p:txBody>
      </p:sp>
      <p:sp>
        <p:nvSpPr>
          <p:cNvPr id="8" name="Rectangle 7"/>
          <p:cNvSpPr/>
          <p:nvPr/>
        </p:nvSpPr>
        <p:spPr>
          <a:xfrm>
            <a:off x="5989320" y="1417320"/>
            <a:ext cx="5669280" cy="3017520"/>
          </a:xfrm>
          <a:prstGeom prst="rect">
            <a:avLst/>
          </a:prstGeom>
          <a:solidFill>
            <a:srgbClr val="F3F6FA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89320" y="1417320"/>
            <a:ext cx="64008" cy="301752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45352" y="1563624"/>
            <a:ext cx="52120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8000"/>
              </a:lnSpc>
              <a:defRPr sz="1250">
                <a:latin typeface="Consolas"/>
              </a:defRPr>
            </a:pPr>
            <a:r>
              <a:rPr sz="1250" b="0" i="0">
                <a:solidFill>
                  <a:srgbClr val="267F99"/>
                </a:solidFill>
                <a:latin typeface="Consolas"/>
                <a:ea typeface="Consolas"/>
              </a:rPr>
              <a:t>int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a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[5]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=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{1,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098658"/>
                </a:solidFill>
                <a:latin typeface="Consolas"/>
                <a:ea typeface="Consolas"/>
              </a:rPr>
              <a:t>2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,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098658"/>
                </a:solidFill>
                <a:latin typeface="Consolas"/>
                <a:ea typeface="Consolas"/>
              </a:rPr>
              <a:t>3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,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098658"/>
                </a:solidFill>
                <a:latin typeface="Consolas"/>
                <a:ea typeface="Consolas"/>
              </a:rPr>
              <a:t>4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,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098658"/>
                </a:solidFill>
                <a:latin typeface="Consolas"/>
                <a:ea typeface="Consolas"/>
              </a:rPr>
              <a:t>5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};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  </a:t>
            </a:r>
            <a:r>
              <a:rPr sz="1250" b="0" i="1">
                <a:solidFill>
                  <a:srgbClr val="2E8540"/>
                </a:solidFill>
                <a:latin typeface="Consolas"/>
                <a:ea typeface="Consolas"/>
              </a:rPr>
              <a:t>// массив</a:t>
            </a:r>
          </a:p>
          <a:p>
            <a:pPr>
              <a:lnSpc>
                <a:spcPct val="118000"/>
              </a:lnSpc>
              <a:defRPr sz="1250">
                <a:latin typeface="Consolas"/>
              </a:defRPr>
            </a:pPr>
            <a:r>
              <a:rPr sz="1250" b="0" i="0">
                <a:solidFill>
                  <a:srgbClr val="267F99"/>
                </a:solidFill>
                <a:latin typeface="Consolas"/>
                <a:ea typeface="Consolas"/>
              </a:rPr>
              <a:t>int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x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=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098658"/>
                </a:solidFill>
                <a:latin typeface="Consolas"/>
                <a:ea typeface="Consolas"/>
              </a:rPr>
              <a:t>42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;</a:t>
            </a:r>
          </a:p>
          <a:p>
            <a:pPr>
              <a:lnSpc>
                <a:spcPct val="118000"/>
              </a:lnSpc>
              <a:defRPr sz="1250">
                <a:latin typeface="Consolas"/>
              </a:defRPr>
            </a:pP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</a:p>
          <a:p>
            <a:pPr>
              <a:lnSpc>
                <a:spcPct val="118000"/>
              </a:lnSpc>
              <a:defRPr sz="1250">
                <a:latin typeface="Consolas"/>
              </a:defRPr>
            </a:pPr>
            <a:r>
              <a:rPr sz="1250" b="0" i="0">
                <a:solidFill>
                  <a:srgbClr val="267F99"/>
                </a:solidFill>
                <a:latin typeface="Consolas"/>
                <a:ea typeface="Consolas"/>
              </a:rPr>
              <a:t>int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*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p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=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&amp;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x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;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   </a:t>
            </a:r>
            <a:r>
              <a:rPr sz="1250" b="0" i="1">
                <a:solidFill>
                  <a:srgbClr val="2E8540"/>
                </a:solidFill>
                <a:latin typeface="Consolas"/>
                <a:ea typeface="Consolas"/>
              </a:rPr>
              <a:t>// указатель: адрес переменной x</a:t>
            </a:r>
          </a:p>
          <a:p>
            <a:pPr>
              <a:lnSpc>
                <a:spcPct val="118000"/>
              </a:lnSpc>
              <a:defRPr sz="1250">
                <a:latin typeface="Consolas"/>
              </a:defRPr>
            </a:pP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*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p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=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098658"/>
                </a:solidFill>
                <a:latin typeface="Consolas"/>
                <a:ea typeface="Consolas"/>
              </a:rPr>
              <a:t>100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;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      </a:t>
            </a:r>
            <a:r>
              <a:rPr sz="1250" b="0" i="1">
                <a:solidFill>
                  <a:srgbClr val="2E8540"/>
                </a:solidFill>
                <a:latin typeface="Consolas"/>
                <a:ea typeface="Consolas"/>
              </a:rPr>
              <a:t>// теперь x == 100</a:t>
            </a:r>
          </a:p>
          <a:p>
            <a:pPr>
              <a:lnSpc>
                <a:spcPct val="118000"/>
              </a:lnSpc>
              <a:defRPr sz="1250">
                <a:latin typeface="Consolas"/>
              </a:defRPr>
            </a:pP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</a:p>
          <a:p>
            <a:pPr>
              <a:lnSpc>
                <a:spcPct val="118000"/>
              </a:lnSpc>
              <a:defRPr sz="1250">
                <a:latin typeface="Consolas"/>
              </a:defRPr>
            </a:pPr>
            <a:r>
              <a:rPr sz="1250" b="0" i="0">
                <a:solidFill>
                  <a:srgbClr val="267F99"/>
                </a:solidFill>
                <a:latin typeface="Consolas"/>
                <a:ea typeface="Consolas"/>
              </a:rPr>
              <a:t>int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&amp;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r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=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x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;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    </a:t>
            </a:r>
            <a:r>
              <a:rPr sz="1250" b="0" i="1">
                <a:solidFill>
                  <a:srgbClr val="2E8540"/>
                </a:solidFill>
                <a:latin typeface="Consolas"/>
                <a:ea typeface="Consolas"/>
              </a:rPr>
              <a:t>// C++: ссылка на x</a:t>
            </a:r>
          </a:p>
          <a:p>
            <a:pPr>
              <a:lnSpc>
                <a:spcPct val="118000"/>
              </a:lnSpc>
              <a:defRPr sz="1250">
                <a:latin typeface="Consolas"/>
              </a:defRPr>
            </a:pP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r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=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098658"/>
                </a:solidFill>
                <a:latin typeface="Consolas"/>
                <a:ea typeface="Consolas"/>
              </a:rPr>
              <a:t>7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;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         </a:t>
            </a:r>
            <a:r>
              <a:rPr sz="1250" b="0" i="1">
                <a:solidFill>
                  <a:srgbClr val="2E8540"/>
                </a:solidFill>
                <a:latin typeface="Consolas"/>
                <a:ea typeface="Consolas"/>
              </a:rPr>
              <a:t>// то же самое, что x =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21240" y="1472184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8A94A6"/>
                </a:solidFill>
                <a:latin typeface="Consolas"/>
                <a:ea typeface="Consolas"/>
              </a:rPr>
              <a:t>derived.cpp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 i="0">
                <a:solidFill>
                  <a:srgbClr val="1F3050"/>
                </a:solidFill>
                <a:latin typeface="Calibri"/>
                <a:ea typeface="Calibri"/>
              </a:rPr>
              <a:t>Типы, определяемые программистом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24128"/>
            <a:ext cx="1371600" cy="50292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993392" y="1024128"/>
            <a:ext cx="320040" cy="50292"/>
          </a:xfrm>
          <a:prstGeom prst="rect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0" i="0">
                <a:solidFill>
                  <a:srgbClr val="8A94A6"/>
                </a:solidFill>
                <a:latin typeface="Calibri"/>
                <a:ea typeface="Calibri"/>
              </a:rPr>
              <a:t>Типы переменных в C и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37376"/>
            <a:ext cx="502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2D9CDB"/>
                </a:solidFill>
                <a:latin typeface="Calibri"/>
                <a:ea typeface="Calibr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5212080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28600" indent="-228600">
              <a:lnSpc>
                <a:spcPct val="112000"/>
              </a:lnSpc>
              <a:spcBef>
                <a:spcPts val="1200"/>
              </a:spcBef>
              <a:buClr>
                <a:srgbClr val="2D9CDB"/>
              </a:buClr>
              <a:buFont typeface="Arial" pitchFamily="34" charset="0"/>
              <a:buChar char="•"/>
            </a:pPr>
            <a:r>
              <a:rPr sz="1450" b="1" i="0">
                <a:solidFill>
                  <a:srgbClr val="26334A"/>
                </a:solidFill>
                <a:latin typeface="Calibri"/>
                <a:ea typeface="Calibri"/>
              </a:rPr>
              <a:t>struct </a:t>
            </a:r>
            <a:r>
              <a:rPr sz="1450" b="0" i="0">
                <a:solidFill>
                  <a:srgbClr val="3C4655"/>
                </a:solidFill>
                <a:latin typeface="Calibri"/>
                <a:ea typeface="Calibri"/>
              </a:rPr>
              <a:t>— объединение полей разных типов под одним именем</a:t>
            </a:r>
          </a:p>
          <a:p>
            <a:pPr marL="228600" indent="-228600">
              <a:lnSpc>
                <a:spcPct val="112000"/>
              </a:lnSpc>
              <a:spcBef>
                <a:spcPts val="1200"/>
              </a:spcBef>
              <a:buClr>
                <a:srgbClr val="2D9CDB"/>
              </a:buClr>
              <a:buFont typeface="Arial" pitchFamily="34" charset="0"/>
              <a:buChar char="•"/>
            </a:pPr>
            <a:r>
              <a:rPr sz="1450" b="1" i="0">
                <a:solidFill>
                  <a:srgbClr val="26334A"/>
                </a:solidFill>
                <a:latin typeface="Calibri"/>
                <a:ea typeface="Calibri"/>
              </a:rPr>
              <a:t>union </a:t>
            </a:r>
            <a:r>
              <a:rPr sz="1450" b="0" i="0">
                <a:solidFill>
                  <a:srgbClr val="3C4655"/>
                </a:solidFill>
                <a:latin typeface="Calibri"/>
                <a:ea typeface="Calibri"/>
              </a:rPr>
              <a:t>— члены делят одну область памяти; «жив» только один из них</a:t>
            </a:r>
          </a:p>
          <a:p>
            <a:pPr marL="228600" indent="-228600">
              <a:lnSpc>
                <a:spcPct val="112000"/>
              </a:lnSpc>
              <a:spcBef>
                <a:spcPts val="1200"/>
              </a:spcBef>
              <a:buClr>
                <a:srgbClr val="2D9CDB"/>
              </a:buClr>
              <a:buFont typeface="Arial" pitchFamily="34" charset="0"/>
              <a:buChar char="•"/>
            </a:pPr>
            <a:r>
              <a:rPr sz="1450" b="1" i="0">
                <a:solidFill>
                  <a:srgbClr val="26334A"/>
                </a:solidFill>
                <a:latin typeface="Calibri"/>
                <a:ea typeface="Calibri"/>
              </a:rPr>
              <a:t>enum </a:t>
            </a:r>
            <a:r>
              <a:rPr sz="1450" b="0" i="0">
                <a:solidFill>
                  <a:srgbClr val="3C4655"/>
                </a:solidFill>
                <a:latin typeface="Calibri"/>
                <a:ea typeface="Calibri"/>
              </a:rPr>
              <a:t>— набор именованных целочисленных констант</a:t>
            </a:r>
          </a:p>
          <a:p>
            <a:pPr marL="228600" indent="-228600">
              <a:lnSpc>
                <a:spcPct val="112000"/>
              </a:lnSpc>
              <a:spcBef>
                <a:spcPts val="1200"/>
              </a:spcBef>
              <a:buClr>
                <a:srgbClr val="2D9CDB"/>
              </a:buClr>
              <a:buFont typeface="Arial" pitchFamily="34" charset="0"/>
              <a:buChar char="•"/>
            </a:pPr>
            <a:r>
              <a:rPr sz="1450" b="1" i="0">
                <a:solidFill>
                  <a:srgbClr val="26334A"/>
                </a:solidFill>
                <a:latin typeface="Calibri"/>
                <a:ea typeface="Calibri"/>
              </a:rPr>
              <a:t>typedef / using </a:t>
            </a:r>
            <a:r>
              <a:rPr sz="1450" b="0" i="0">
                <a:solidFill>
                  <a:srgbClr val="3C4655"/>
                </a:solidFill>
                <a:latin typeface="Calibri"/>
                <a:ea typeface="Calibri"/>
              </a:rPr>
              <a:t>— псевдонимы для типов: </a:t>
            </a:r>
            <a:r>
              <a:rPr sz="1350" b="1" i="0">
                <a:solidFill>
                  <a:srgbClr val="B02A5B"/>
                </a:solidFill>
                <a:latin typeface="Consolas"/>
                <a:ea typeface="Consolas"/>
              </a:rPr>
              <a:t>using Uint = unsigned int;</a:t>
            </a:r>
          </a:p>
          <a:p>
            <a:pPr marL="228600" indent="-228600">
              <a:lnSpc>
                <a:spcPct val="112000"/>
              </a:lnSpc>
              <a:spcBef>
                <a:spcPts val="1200"/>
              </a:spcBef>
              <a:buClr>
                <a:srgbClr val="2D9CDB"/>
              </a:buClr>
              <a:buFont typeface="Arial" pitchFamily="34" charset="0"/>
              <a:buChar char="•"/>
            </a:pPr>
            <a:r>
              <a:rPr sz="1450" b="1" i="0">
                <a:solidFill>
                  <a:srgbClr val="26334A"/>
                </a:solidFill>
                <a:latin typeface="Calibri"/>
                <a:ea typeface="Calibri"/>
              </a:rPr>
              <a:t>class (только C++) </a:t>
            </a:r>
            <a:r>
              <a:rPr sz="1450" b="0" i="0">
                <a:solidFill>
                  <a:srgbClr val="3C4655"/>
                </a:solidFill>
                <a:latin typeface="Calibri"/>
                <a:ea typeface="Calibri"/>
              </a:rPr>
              <a:t>— данные + методы + контроль доступа: </a:t>
            </a:r>
            <a:r>
              <a:rPr sz="1350" b="1" i="0">
                <a:solidFill>
                  <a:srgbClr val="B02A5B"/>
                </a:solidFill>
                <a:latin typeface="Consolas"/>
                <a:ea typeface="Consolas"/>
              </a:rPr>
              <a:t>public</a:t>
            </a:r>
            <a:r>
              <a:rPr sz="1450" b="0" i="0">
                <a:solidFill>
                  <a:srgbClr val="3C4655"/>
                </a:solidFill>
                <a:latin typeface="Calibri"/>
                <a:ea typeface="Calibri"/>
              </a:rPr>
              <a:t> / </a:t>
            </a:r>
            <a:r>
              <a:rPr sz="1350" b="1" i="0">
                <a:solidFill>
                  <a:srgbClr val="B02A5B"/>
                </a:solidFill>
                <a:latin typeface="Consolas"/>
                <a:ea typeface="Consolas"/>
              </a:rPr>
              <a:t>private</a:t>
            </a:r>
            <a:r>
              <a:rPr sz="1450" b="0" i="0">
                <a:solidFill>
                  <a:srgbClr val="3C4655"/>
                </a:solidFill>
                <a:latin typeface="Calibri"/>
                <a:ea typeface="Calibri"/>
              </a:rPr>
              <a:t> / </a:t>
            </a:r>
            <a:r>
              <a:rPr sz="1350" b="1" i="0">
                <a:solidFill>
                  <a:srgbClr val="B02A5B"/>
                </a:solidFill>
                <a:latin typeface="Consolas"/>
                <a:ea typeface="Consolas"/>
              </a:rPr>
              <a:t>protected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989320" y="1325880"/>
            <a:ext cx="5669280" cy="3977639"/>
          </a:xfrm>
          <a:prstGeom prst="rect">
            <a:avLst/>
          </a:prstGeom>
          <a:solidFill>
            <a:srgbClr val="F3F6FA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89320" y="1325880"/>
            <a:ext cx="64008" cy="3977639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45352" y="1472184"/>
            <a:ext cx="5212080" cy="3703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8000"/>
              </a:lnSpc>
              <a:defRPr sz="1250">
                <a:latin typeface="Consolas"/>
              </a:defRPr>
            </a:pPr>
            <a:r>
              <a:rPr sz="1250" b="0" i="0">
                <a:solidFill>
                  <a:srgbClr val="0B57D0"/>
                </a:solidFill>
                <a:latin typeface="Consolas"/>
                <a:ea typeface="Consolas"/>
              </a:rPr>
              <a:t>struct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Point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{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267F99"/>
                </a:solidFill>
                <a:latin typeface="Consolas"/>
                <a:ea typeface="Consolas"/>
              </a:rPr>
              <a:t>int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x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,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y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;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};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       </a:t>
            </a:r>
            <a:r>
              <a:rPr sz="1250" b="0" i="1">
                <a:solidFill>
                  <a:srgbClr val="2E8540"/>
                </a:solidFill>
                <a:latin typeface="Consolas"/>
                <a:ea typeface="Consolas"/>
              </a:rPr>
              <a:t>// структура</a:t>
            </a:r>
          </a:p>
          <a:p>
            <a:pPr>
              <a:lnSpc>
                <a:spcPct val="118000"/>
              </a:lnSpc>
              <a:defRPr sz="1250">
                <a:latin typeface="Consolas"/>
              </a:defRPr>
            </a:pPr>
            <a:r>
              <a:rPr sz="1250" b="0" i="0">
                <a:solidFill>
                  <a:srgbClr val="0B57D0"/>
                </a:solidFill>
                <a:latin typeface="Consolas"/>
                <a:ea typeface="Consolas"/>
              </a:rPr>
              <a:t>union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Id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{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267F99"/>
                </a:solidFill>
                <a:latin typeface="Consolas"/>
                <a:ea typeface="Consolas"/>
              </a:rPr>
              <a:t>int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i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;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267F99"/>
                </a:solidFill>
                <a:latin typeface="Consolas"/>
                <a:ea typeface="Consolas"/>
              </a:rPr>
              <a:t>float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f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;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};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     </a:t>
            </a:r>
            <a:r>
              <a:rPr sz="1250" b="0" i="1">
                <a:solidFill>
                  <a:srgbClr val="2E8540"/>
                </a:solidFill>
                <a:latin typeface="Consolas"/>
                <a:ea typeface="Consolas"/>
              </a:rPr>
              <a:t>// объединение</a:t>
            </a:r>
          </a:p>
          <a:p>
            <a:pPr>
              <a:lnSpc>
                <a:spcPct val="118000"/>
              </a:lnSpc>
              <a:defRPr sz="1250">
                <a:latin typeface="Consolas"/>
              </a:defRPr>
            </a:pPr>
            <a:r>
              <a:rPr sz="1250" b="0" i="0">
                <a:solidFill>
                  <a:srgbClr val="0B57D0"/>
                </a:solidFill>
                <a:latin typeface="Consolas"/>
                <a:ea typeface="Consolas"/>
              </a:rPr>
              <a:t>enum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Color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{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RED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,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GREEN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,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BLUE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};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  </a:t>
            </a:r>
            <a:r>
              <a:rPr sz="1250" b="0" i="1">
                <a:solidFill>
                  <a:srgbClr val="2E8540"/>
                </a:solidFill>
                <a:latin typeface="Consolas"/>
                <a:ea typeface="Consolas"/>
              </a:rPr>
              <a:t>// перечисление</a:t>
            </a:r>
          </a:p>
          <a:p>
            <a:pPr>
              <a:lnSpc>
                <a:spcPct val="118000"/>
              </a:lnSpc>
              <a:defRPr sz="1250">
                <a:latin typeface="Consolas"/>
              </a:defRPr>
            </a:pP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</a:p>
          <a:p>
            <a:pPr>
              <a:lnSpc>
                <a:spcPct val="118000"/>
              </a:lnSpc>
              <a:defRPr sz="1250">
                <a:latin typeface="Consolas"/>
              </a:defRPr>
            </a:pPr>
            <a:r>
              <a:rPr sz="1250" b="0" i="0">
                <a:solidFill>
                  <a:srgbClr val="0B57D0"/>
                </a:solidFill>
                <a:latin typeface="Consolas"/>
                <a:ea typeface="Consolas"/>
              </a:rPr>
              <a:t>typedef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0B57D0"/>
                </a:solidFill>
                <a:latin typeface="Consolas"/>
                <a:ea typeface="Consolas"/>
              </a:rPr>
              <a:t>struct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Point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Point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;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       </a:t>
            </a:r>
            <a:r>
              <a:rPr sz="1250" b="0" i="1">
                <a:solidFill>
                  <a:srgbClr val="2E8540"/>
                </a:solidFill>
                <a:latin typeface="Consolas"/>
                <a:ea typeface="Consolas"/>
              </a:rPr>
              <a:t>// C: псевдоним</a:t>
            </a:r>
          </a:p>
          <a:p>
            <a:pPr>
              <a:lnSpc>
                <a:spcPct val="118000"/>
              </a:lnSpc>
              <a:defRPr sz="1250">
                <a:latin typeface="Consolas"/>
              </a:defRPr>
            </a:pPr>
            <a:r>
              <a:rPr sz="1250" b="0" i="0">
                <a:solidFill>
                  <a:srgbClr val="0B57D0"/>
                </a:solidFill>
                <a:latin typeface="Consolas"/>
                <a:ea typeface="Consolas"/>
              </a:rPr>
              <a:t>using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Alias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=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Point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;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              </a:t>
            </a:r>
            <a:r>
              <a:rPr sz="1250" b="0" i="1">
                <a:solidFill>
                  <a:srgbClr val="2E8540"/>
                </a:solidFill>
                <a:latin typeface="Consolas"/>
                <a:ea typeface="Consolas"/>
              </a:rPr>
              <a:t>// C++: то же самое</a:t>
            </a:r>
          </a:p>
          <a:p>
            <a:pPr>
              <a:lnSpc>
                <a:spcPct val="118000"/>
              </a:lnSpc>
              <a:defRPr sz="1250">
                <a:latin typeface="Consolas"/>
              </a:defRPr>
            </a:pP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</a:p>
          <a:p>
            <a:pPr>
              <a:lnSpc>
                <a:spcPct val="118000"/>
              </a:lnSpc>
              <a:defRPr sz="1250">
                <a:latin typeface="Consolas"/>
              </a:defRPr>
            </a:pPr>
            <a:r>
              <a:rPr sz="1250" b="0" i="0">
                <a:solidFill>
                  <a:srgbClr val="0B57D0"/>
                </a:solidFill>
                <a:latin typeface="Consolas"/>
                <a:ea typeface="Consolas"/>
              </a:rPr>
              <a:t>class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Circle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{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                    </a:t>
            </a:r>
            <a:r>
              <a:rPr sz="1250" b="0" i="1">
                <a:solidFill>
                  <a:srgbClr val="2E8540"/>
                </a:solidFill>
                <a:latin typeface="Consolas"/>
                <a:ea typeface="Consolas"/>
              </a:rPr>
              <a:t>// C++: класс</a:t>
            </a:r>
          </a:p>
          <a:p>
            <a:pPr>
              <a:lnSpc>
                <a:spcPct val="118000"/>
              </a:lnSpc>
              <a:defRPr sz="1250">
                <a:latin typeface="Consolas"/>
              </a:defRPr>
            </a:pPr>
            <a:r>
              <a:rPr sz="1250" b="0" i="0">
                <a:solidFill>
                  <a:srgbClr val="0B57D0"/>
                </a:solidFill>
                <a:latin typeface="Consolas"/>
                <a:ea typeface="Consolas"/>
              </a:rPr>
              <a:t>public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:</a:t>
            </a:r>
          </a:p>
          <a:p>
            <a:pPr>
              <a:lnSpc>
                <a:spcPct val="118000"/>
              </a:lnSpc>
              <a:defRPr sz="1250">
                <a:latin typeface="Consolas"/>
              </a:defRPr>
            </a:pP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   </a:t>
            </a:r>
            <a:r>
              <a:rPr sz="1250" b="0" i="0">
                <a:solidFill>
                  <a:srgbClr val="267F99"/>
                </a:solidFill>
                <a:latin typeface="Consolas"/>
                <a:ea typeface="Consolas"/>
              </a:rPr>
              <a:t>double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r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;</a:t>
            </a:r>
          </a:p>
          <a:p>
            <a:pPr>
              <a:lnSpc>
                <a:spcPct val="118000"/>
              </a:lnSpc>
              <a:defRPr sz="1250">
                <a:latin typeface="Consolas"/>
              </a:defRPr>
            </a:pP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   </a:t>
            </a:r>
            <a:r>
              <a:rPr sz="1250" b="0" i="0">
                <a:solidFill>
                  <a:srgbClr val="267F99"/>
                </a:solidFill>
                <a:latin typeface="Consolas"/>
                <a:ea typeface="Consolas"/>
              </a:rPr>
              <a:t>double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area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()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0B57D0"/>
                </a:solidFill>
                <a:latin typeface="Consolas"/>
                <a:ea typeface="Consolas"/>
              </a:rPr>
              <a:t>const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{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0B57D0"/>
                </a:solidFill>
                <a:latin typeface="Consolas"/>
                <a:ea typeface="Consolas"/>
              </a:rPr>
              <a:t>return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098658"/>
                </a:solidFill>
                <a:latin typeface="Consolas"/>
                <a:ea typeface="Consolas"/>
              </a:rPr>
              <a:t>3.14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*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r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*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r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;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}</a:t>
            </a:r>
          </a:p>
          <a:p>
            <a:pPr>
              <a:lnSpc>
                <a:spcPct val="118000"/>
              </a:lnSpc>
              <a:defRPr sz="1250">
                <a:latin typeface="Consolas"/>
              </a:defRPr>
            </a:pP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};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21240" y="1380744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8A94A6"/>
                </a:solidFill>
                <a:latin typeface="Consolas"/>
                <a:ea typeface="Consolas"/>
              </a:rPr>
              <a:t>user_types.cpp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 i="0">
                <a:solidFill>
                  <a:srgbClr val="1F3050"/>
                </a:solidFill>
                <a:latin typeface="Calibri"/>
                <a:ea typeface="Calibri"/>
              </a:rPr>
              <a:t>Область видимости и время жизни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24128"/>
            <a:ext cx="1371600" cy="50292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993392" y="1024128"/>
            <a:ext cx="320040" cy="50292"/>
          </a:xfrm>
          <a:prstGeom prst="rect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0" i="0">
                <a:solidFill>
                  <a:srgbClr val="8A94A6"/>
                </a:solidFill>
                <a:latin typeface="Calibri"/>
                <a:ea typeface="Calibri"/>
              </a:rPr>
              <a:t>Типы переменных в C и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37376"/>
            <a:ext cx="502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2D9CDB"/>
                </a:solidFill>
                <a:latin typeface="Calibri"/>
                <a:ea typeface="Calibr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5212080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28600" indent="-228600">
              <a:lnSpc>
                <a:spcPct val="112000"/>
              </a:lnSpc>
              <a:spcBef>
                <a:spcPts val="1200"/>
              </a:spcBef>
              <a:buClr>
                <a:srgbClr val="2D9CDB"/>
              </a:buClr>
              <a:buFont typeface="Arial" pitchFamily="34" charset="0"/>
              <a:buChar char="•"/>
            </a:pPr>
            <a:r>
              <a:rPr sz="1450" b="1" i="0">
                <a:solidFill>
                  <a:srgbClr val="26334A"/>
                </a:solidFill>
                <a:latin typeface="Calibri"/>
                <a:ea typeface="Calibri"/>
              </a:rPr>
              <a:t>Локальные </a:t>
            </a:r>
            <a:r>
              <a:rPr sz="1450" b="0" i="0">
                <a:solidFill>
                  <a:srgbClr val="3C4655"/>
                </a:solidFill>
                <a:latin typeface="Calibri"/>
                <a:ea typeface="Calibri"/>
              </a:rPr>
              <a:t>— объявлены в блоке </a:t>
            </a:r>
            <a:r>
              <a:rPr sz="1350" b="1" i="0">
                <a:solidFill>
                  <a:srgbClr val="B02A5B"/>
                </a:solidFill>
                <a:latin typeface="Consolas"/>
                <a:ea typeface="Consolas"/>
              </a:rPr>
              <a:t>{ }</a:t>
            </a:r>
            <a:r>
              <a:rPr sz="1450" b="0" i="0">
                <a:solidFill>
                  <a:srgbClr val="3C4655"/>
                </a:solidFill>
                <a:latin typeface="Calibri"/>
                <a:ea typeface="Calibri"/>
              </a:rPr>
              <a:t>; живут в стеке до конца блока</a:t>
            </a:r>
          </a:p>
          <a:p>
            <a:pPr marL="228600" indent="-228600">
              <a:lnSpc>
                <a:spcPct val="112000"/>
              </a:lnSpc>
              <a:spcBef>
                <a:spcPts val="1200"/>
              </a:spcBef>
              <a:buClr>
                <a:srgbClr val="2D9CDB"/>
              </a:buClr>
              <a:buFont typeface="Arial" pitchFamily="34" charset="0"/>
              <a:buChar char="•"/>
            </a:pPr>
            <a:r>
              <a:rPr sz="1450" b="1" i="0">
                <a:solidFill>
                  <a:srgbClr val="26334A"/>
                </a:solidFill>
                <a:latin typeface="Calibri"/>
                <a:ea typeface="Calibri"/>
              </a:rPr>
              <a:t>Глобальные </a:t>
            </a:r>
            <a:r>
              <a:rPr sz="1450" b="0" i="0">
                <a:solidFill>
                  <a:srgbClr val="3C4655"/>
                </a:solidFill>
                <a:latin typeface="Calibri"/>
                <a:ea typeface="Calibri"/>
              </a:rPr>
              <a:t>— вне функций; видны от места объявления до конца файла</a:t>
            </a:r>
          </a:p>
          <a:p>
            <a:pPr marL="228600" indent="-228600">
              <a:lnSpc>
                <a:spcPct val="112000"/>
              </a:lnSpc>
              <a:spcBef>
                <a:spcPts val="1200"/>
              </a:spcBef>
              <a:buClr>
                <a:srgbClr val="2D9CDB"/>
              </a:buClr>
              <a:buFont typeface="Arial" pitchFamily="34" charset="0"/>
              <a:buChar char="•"/>
            </a:pPr>
            <a:r>
              <a:rPr sz="1450" b="1" i="0">
                <a:solidFill>
                  <a:srgbClr val="26334A"/>
                </a:solidFill>
                <a:latin typeface="Calibri"/>
                <a:ea typeface="Calibri"/>
              </a:rPr>
              <a:t>static </a:t>
            </a:r>
            <a:r>
              <a:rPr sz="1450" b="0" i="0">
                <a:solidFill>
                  <a:srgbClr val="3C4655"/>
                </a:solidFill>
                <a:latin typeface="Calibri"/>
                <a:ea typeface="Calibri"/>
              </a:rPr>
              <a:t>— сохраняет значение между вызовами функции; «глобальная static» скрыта от других файлов</a:t>
            </a:r>
          </a:p>
          <a:p>
            <a:pPr marL="228600" indent="-228600">
              <a:lnSpc>
                <a:spcPct val="112000"/>
              </a:lnSpc>
              <a:spcBef>
                <a:spcPts val="1200"/>
              </a:spcBef>
              <a:buClr>
                <a:srgbClr val="2D9CDB"/>
              </a:buClr>
              <a:buFont typeface="Arial" pitchFamily="34" charset="0"/>
              <a:buChar char="•"/>
            </a:pPr>
            <a:r>
              <a:rPr sz="1450" b="1" i="0">
                <a:solidFill>
                  <a:srgbClr val="26334A"/>
                </a:solidFill>
                <a:latin typeface="Calibri"/>
                <a:ea typeface="Calibri"/>
              </a:rPr>
              <a:t>extern </a:t>
            </a:r>
            <a:r>
              <a:rPr sz="1450" b="0" i="0">
                <a:solidFill>
                  <a:srgbClr val="3C4655"/>
                </a:solidFill>
                <a:latin typeface="Calibri"/>
                <a:ea typeface="Calibri"/>
              </a:rPr>
              <a:t>— объявление переменной, которая определена в другом файле</a:t>
            </a:r>
          </a:p>
          <a:p>
            <a:pPr marL="228600" indent="-228600">
              <a:lnSpc>
                <a:spcPct val="112000"/>
              </a:lnSpc>
              <a:spcBef>
                <a:spcPts val="1200"/>
              </a:spcBef>
              <a:buClr>
                <a:srgbClr val="2D9CDB"/>
              </a:buClr>
              <a:buFont typeface="Arial" pitchFamily="34" charset="0"/>
              <a:buChar char="•"/>
            </a:pPr>
            <a:r>
              <a:rPr sz="1450" b="1" i="0">
                <a:solidFill>
                  <a:srgbClr val="26334A"/>
                </a:solidFill>
                <a:latin typeface="Calibri"/>
                <a:ea typeface="Calibri"/>
              </a:rPr>
              <a:t>auto (C++) </a:t>
            </a:r>
            <a:r>
              <a:rPr sz="1450" b="0" i="0">
                <a:solidFill>
                  <a:srgbClr val="3C4655"/>
                </a:solidFill>
                <a:latin typeface="Calibri"/>
                <a:ea typeface="Calibri"/>
              </a:rPr>
              <a:t>— компилятор сам выводит тип из инициализатора: </a:t>
            </a:r>
            <a:r>
              <a:rPr sz="1350" b="1" i="0">
                <a:solidFill>
                  <a:srgbClr val="B02A5B"/>
                </a:solidFill>
                <a:latin typeface="Consolas"/>
                <a:ea typeface="Consolas"/>
              </a:rPr>
              <a:t>auto d = 3.14; // double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5989320" y="1417320"/>
            <a:ext cx="5669280" cy="3383280"/>
          </a:xfrm>
          <a:prstGeom prst="rect">
            <a:avLst/>
          </a:prstGeom>
          <a:solidFill>
            <a:srgbClr val="F3F6FA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89320" y="1417320"/>
            <a:ext cx="64008" cy="338328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45352" y="1563624"/>
            <a:ext cx="521208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8000"/>
              </a:lnSpc>
              <a:defRPr sz="1250">
                <a:latin typeface="Consolas"/>
              </a:defRPr>
            </a:pPr>
            <a:r>
              <a:rPr sz="1250" b="0" i="0">
                <a:solidFill>
                  <a:srgbClr val="267F99"/>
                </a:solidFill>
                <a:latin typeface="Consolas"/>
                <a:ea typeface="Consolas"/>
              </a:rPr>
              <a:t>int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g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=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098658"/>
                </a:solidFill>
                <a:latin typeface="Consolas"/>
                <a:ea typeface="Consolas"/>
              </a:rPr>
              <a:t>0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;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                </a:t>
            </a:r>
            <a:r>
              <a:rPr sz="1250" b="0" i="1">
                <a:solidFill>
                  <a:srgbClr val="2E8540"/>
                </a:solidFill>
                <a:latin typeface="Consolas"/>
                <a:ea typeface="Consolas"/>
              </a:rPr>
              <a:t>// глобальная переменная</a:t>
            </a:r>
          </a:p>
          <a:p>
            <a:pPr>
              <a:lnSpc>
                <a:spcPct val="118000"/>
              </a:lnSpc>
              <a:defRPr sz="1250">
                <a:latin typeface="Consolas"/>
              </a:defRPr>
            </a:pP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</a:p>
          <a:p>
            <a:pPr>
              <a:lnSpc>
                <a:spcPct val="118000"/>
              </a:lnSpc>
              <a:defRPr sz="1250">
                <a:latin typeface="Consolas"/>
              </a:defRPr>
            </a:pPr>
            <a:r>
              <a:rPr sz="1250" b="0" i="0">
                <a:solidFill>
                  <a:srgbClr val="267F99"/>
                </a:solidFill>
                <a:latin typeface="Consolas"/>
                <a:ea typeface="Consolas"/>
              </a:rPr>
              <a:t>void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tick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()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{</a:t>
            </a:r>
          </a:p>
          <a:p>
            <a:pPr>
              <a:lnSpc>
                <a:spcPct val="118000"/>
              </a:lnSpc>
              <a:defRPr sz="1250">
                <a:latin typeface="Consolas"/>
              </a:defRPr>
            </a:pP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   </a:t>
            </a:r>
            <a:r>
              <a:rPr sz="1250" b="0" i="0">
                <a:solidFill>
                  <a:srgbClr val="0B57D0"/>
                </a:solidFill>
                <a:latin typeface="Consolas"/>
                <a:ea typeface="Consolas"/>
              </a:rPr>
              <a:t>static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267F99"/>
                </a:solidFill>
                <a:latin typeface="Consolas"/>
                <a:ea typeface="Consolas"/>
              </a:rPr>
              <a:t>int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calls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=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098658"/>
                </a:solidFill>
                <a:latin typeface="Consolas"/>
                <a:ea typeface="Consolas"/>
              </a:rPr>
              <a:t>0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;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 </a:t>
            </a:r>
            <a:r>
              <a:rPr sz="1250" b="0" i="1">
                <a:solidFill>
                  <a:srgbClr val="2E8540"/>
                </a:solidFill>
                <a:latin typeface="Consolas"/>
                <a:ea typeface="Consolas"/>
              </a:rPr>
              <a:t>// одна на все вызовы</a:t>
            </a:r>
          </a:p>
          <a:p>
            <a:pPr>
              <a:lnSpc>
                <a:spcPct val="118000"/>
              </a:lnSpc>
              <a:defRPr sz="1250">
                <a:latin typeface="Consolas"/>
              </a:defRPr>
            </a:pP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   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calls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++;</a:t>
            </a:r>
          </a:p>
          <a:p>
            <a:pPr>
              <a:lnSpc>
                <a:spcPct val="118000"/>
              </a:lnSpc>
              <a:defRPr sz="1250">
                <a:latin typeface="Consolas"/>
              </a:defRPr>
            </a:pP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   </a:t>
            </a:r>
            <a:r>
              <a:rPr sz="1250" b="0" i="0">
                <a:solidFill>
                  <a:srgbClr val="267F99"/>
                </a:solidFill>
                <a:latin typeface="Consolas"/>
                <a:ea typeface="Consolas"/>
              </a:rPr>
              <a:t>int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local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=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calls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*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098658"/>
                </a:solidFill>
                <a:latin typeface="Consolas"/>
                <a:ea typeface="Consolas"/>
              </a:rPr>
              <a:t>2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;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1">
                <a:solidFill>
                  <a:srgbClr val="2E8540"/>
                </a:solidFill>
                <a:latin typeface="Consolas"/>
                <a:ea typeface="Consolas"/>
              </a:rPr>
              <a:t>// создаётся заново</a:t>
            </a:r>
          </a:p>
          <a:p>
            <a:pPr>
              <a:lnSpc>
                <a:spcPct val="118000"/>
              </a:lnSpc>
              <a:defRPr sz="1250">
                <a:latin typeface="Consolas"/>
              </a:defRPr>
            </a:pP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}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                         </a:t>
            </a:r>
            <a:r>
              <a:rPr sz="1250" b="0" i="1">
                <a:solidFill>
                  <a:srgbClr val="2E8540"/>
                </a:solidFill>
                <a:latin typeface="Consolas"/>
                <a:ea typeface="Consolas"/>
              </a:rPr>
              <a:t>// local уничтожена</a:t>
            </a:r>
          </a:p>
          <a:p>
            <a:pPr>
              <a:lnSpc>
                <a:spcPct val="118000"/>
              </a:lnSpc>
              <a:defRPr sz="1250">
                <a:latin typeface="Consolas"/>
              </a:defRPr>
            </a:pP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</a:p>
          <a:p>
            <a:pPr>
              <a:lnSpc>
                <a:spcPct val="118000"/>
              </a:lnSpc>
              <a:defRPr sz="1250">
                <a:latin typeface="Consolas"/>
              </a:defRPr>
            </a:pPr>
            <a:r>
              <a:rPr sz="1250" b="0" i="0">
                <a:solidFill>
                  <a:srgbClr val="0B57D0"/>
                </a:solidFill>
                <a:latin typeface="Consolas"/>
                <a:ea typeface="Consolas"/>
              </a:rPr>
              <a:t>auto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d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=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098658"/>
                </a:solidFill>
                <a:latin typeface="Consolas"/>
                <a:ea typeface="Consolas"/>
              </a:rPr>
              <a:t>3.14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;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            </a:t>
            </a:r>
            <a:r>
              <a:rPr sz="1250" b="0" i="1">
                <a:solidFill>
                  <a:srgbClr val="2E8540"/>
                </a:solidFill>
                <a:latin typeface="Consolas"/>
                <a:ea typeface="Consolas"/>
              </a:rPr>
              <a:t>// C++: выведено double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21240" y="1472184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8A94A6"/>
                </a:solidFill>
                <a:latin typeface="Consolas"/>
                <a:ea typeface="Consolas"/>
              </a:rPr>
              <a:t>scope.cpp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 i="0">
                <a:solidFill>
                  <a:srgbClr val="1F3050"/>
                </a:solidFill>
                <a:latin typeface="Calibri"/>
                <a:ea typeface="Calibri"/>
              </a:rPr>
              <a:t>Квалификаторы типа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24128"/>
            <a:ext cx="1371600" cy="50292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993392" y="1024128"/>
            <a:ext cx="320040" cy="50292"/>
          </a:xfrm>
          <a:prstGeom prst="rect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0" i="0">
                <a:solidFill>
                  <a:srgbClr val="8A94A6"/>
                </a:solidFill>
                <a:latin typeface="Calibri"/>
                <a:ea typeface="Calibri"/>
              </a:rPr>
              <a:t>Типы переменных в C и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37376"/>
            <a:ext cx="502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2D9CDB"/>
                </a:solidFill>
                <a:latin typeface="Calibri"/>
                <a:ea typeface="Calibr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5212080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28600" indent="-228600">
              <a:lnSpc>
                <a:spcPct val="112000"/>
              </a:lnSpc>
              <a:spcBef>
                <a:spcPts val="1200"/>
              </a:spcBef>
              <a:buClr>
                <a:srgbClr val="2D9CDB"/>
              </a:buClr>
              <a:buFont typeface="Arial" pitchFamily="34" charset="0"/>
              <a:buChar char="•"/>
            </a:pPr>
            <a:r>
              <a:rPr sz="1450" b="1" i="0">
                <a:solidFill>
                  <a:srgbClr val="26334A"/>
                </a:solidFill>
                <a:latin typeface="Calibri"/>
                <a:ea typeface="Calibri"/>
              </a:rPr>
              <a:t>const </a:t>
            </a:r>
            <a:r>
              <a:rPr sz="1450" b="0" i="0">
                <a:solidFill>
                  <a:srgbClr val="3C4655"/>
                </a:solidFill>
                <a:latin typeface="Calibri"/>
                <a:ea typeface="Calibri"/>
              </a:rPr>
              <a:t>— значение нельзя изменить; обязательна инициализация при объявлении</a:t>
            </a:r>
          </a:p>
          <a:p>
            <a:pPr marL="228600" indent="-228600">
              <a:lnSpc>
                <a:spcPct val="112000"/>
              </a:lnSpc>
              <a:spcBef>
                <a:spcPts val="1200"/>
              </a:spcBef>
              <a:buClr>
                <a:srgbClr val="2D9CDB"/>
              </a:buClr>
              <a:buFont typeface="Arial" pitchFamily="34" charset="0"/>
              <a:buChar char="•"/>
            </a:pPr>
            <a:r>
              <a:rPr sz="1450" b="1" i="0">
                <a:solidFill>
                  <a:srgbClr val="26334A"/>
                </a:solidFill>
                <a:latin typeface="Calibri"/>
                <a:ea typeface="Calibri"/>
              </a:rPr>
              <a:t>volatile </a:t>
            </a:r>
            <a:r>
              <a:rPr sz="1450" b="0" i="0">
                <a:solidFill>
                  <a:srgbClr val="3C4655"/>
                </a:solidFill>
                <a:latin typeface="Calibri"/>
                <a:ea typeface="Calibri"/>
              </a:rPr>
              <a:t>— значение может меняться «извне» (железо, другой поток); запрещает оптимизацию обращений</a:t>
            </a:r>
          </a:p>
          <a:p>
            <a:pPr marL="228600" indent="-228600">
              <a:lnSpc>
                <a:spcPct val="112000"/>
              </a:lnSpc>
              <a:spcBef>
                <a:spcPts val="1200"/>
              </a:spcBef>
              <a:buClr>
                <a:srgbClr val="2D9CDB"/>
              </a:buClr>
              <a:buFont typeface="Arial" pitchFamily="34" charset="0"/>
              <a:buChar char="•"/>
            </a:pPr>
            <a:r>
              <a:rPr sz="1450" b="1" i="0">
                <a:solidFill>
                  <a:srgbClr val="26334A"/>
                </a:solidFill>
                <a:latin typeface="Calibri"/>
                <a:ea typeface="Calibri"/>
              </a:rPr>
              <a:t>constexpr (C++11) </a:t>
            </a:r>
            <a:r>
              <a:rPr sz="1450" b="0" i="0">
                <a:solidFill>
                  <a:srgbClr val="3C4655"/>
                </a:solidFill>
                <a:latin typeface="Calibri"/>
                <a:ea typeface="Calibri"/>
              </a:rPr>
              <a:t>— значение вычисляется ещё на этапе компиляции</a:t>
            </a:r>
          </a:p>
          <a:p>
            <a:pPr marL="228600" indent="-228600">
              <a:lnSpc>
                <a:spcPct val="112000"/>
              </a:lnSpc>
              <a:spcBef>
                <a:spcPts val="1200"/>
              </a:spcBef>
              <a:buClr>
                <a:srgbClr val="2D9CDB"/>
              </a:buClr>
              <a:buFont typeface="Arial" pitchFamily="34" charset="0"/>
              <a:buChar char="•"/>
            </a:pPr>
            <a:r>
              <a:rPr sz="1450" b="1" i="0">
                <a:solidFill>
                  <a:srgbClr val="26334A"/>
                </a:solidFill>
                <a:latin typeface="Calibri"/>
                <a:ea typeface="Calibri"/>
              </a:rPr>
              <a:t>mutable (C++) </a:t>
            </a:r>
            <a:r>
              <a:rPr sz="1450" b="0" i="0">
                <a:solidFill>
                  <a:srgbClr val="3C4655"/>
                </a:solidFill>
                <a:latin typeface="Calibri"/>
                <a:ea typeface="Calibri"/>
              </a:rPr>
              <a:t>— поле класса можно менять даже из </a:t>
            </a:r>
            <a:r>
              <a:rPr sz="1350" b="1" i="0">
                <a:solidFill>
                  <a:srgbClr val="B02A5B"/>
                </a:solidFill>
                <a:latin typeface="Consolas"/>
                <a:ea typeface="Consolas"/>
              </a:rPr>
              <a:t>const</a:t>
            </a:r>
            <a:r>
              <a:rPr sz="1450" b="0" i="0">
                <a:solidFill>
                  <a:srgbClr val="3C4655"/>
                </a:solidFill>
                <a:latin typeface="Calibri"/>
                <a:ea typeface="Calibri"/>
              </a:rPr>
              <a:t>-метода</a:t>
            </a:r>
          </a:p>
          <a:p>
            <a:pPr marL="228600" indent="-228600">
              <a:lnSpc>
                <a:spcPct val="112000"/>
              </a:lnSpc>
              <a:spcBef>
                <a:spcPts val="1200"/>
              </a:spcBef>
              <a:buClr>
                <a:srgbClr val="2D9CDB"/>
              </a:buClr>
              <a:buFont typeface="Arial" pitchFamily="34" charset="0"/>
              <a:buChar char="•"/>
            </a:pPr>
            <a:r>
              <a:rPr sz="1450" b="0" i="0">
                <a:solidFill>
                  <a:srgbClr val="3C4655"/>
                </a:solidFill>
                <a:latin typeface="Calibri"/>
                <a:ea typeface="Calibri"/>
              </a:rPr>
              <a:t>Квалификаторы сочетаются с любым типом: </a:t>
            </a:r>
            <a:r>
              <a:rPr sz="1350" b="1" i="0">
                <a:solidFill>
                  <a:srgbClr val="B02A5B"/>
                </a:solidFill>
                <a:latin typeface="Consolas"/>
                <a:ea typeface="Consolas"/>
              </a:rPr>
              <a:t>const char* s;</a:t>
            </a:r>
            <a:r>
              <a:rPr sz="1450" b="0" i="0">
                <a:solidFill>
                  <a:srgbClr val="3C4655"/>
                </a:solidFill>
                <a:latin typeface="Calibri"/>
                <a:ea typeface="Calibri"/>
              </a:rPr>
              <a:t>, </a:t>
            </a:r>
            <a:r>
              <a:rPr sz="1350" b="1" i="0">
                <a:solidFill>
                  <a:srgbClr val="B02A5B"/>
                </a:solidFill>
                <a:latin typeface="Consolas"/>
                <a:ea typeface="Consolas"/>
              </a:rPr>
              <a:t>static const int N;</a:t>
            </a:r>
          </a:p>
        </p:txBody>
      </p:sp>
      <p:sp>
        <p:nvSpPr>
          <p:cNvPr id="8" name="Rectangle 7"/>
          <p:cNvSpPr/>
          <p:nvPr/>
        </p:nvSpPr>
        <p:spPr>
          <a:xfrm>
            <a:off x="5989320" y="1417320"/>
            <a:ext cx="5669280" cy="3017520"/>
          </a:xfrm>
          <a:prstGeom prst="rect">
            <a:avLst/>
          </a:prstGeom>
          <a:solidFill>
            <a:srgbClr val="F3F6FA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89320" y="1417320"/>
            <a:ext cx="64008" cy="301752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45352" y="1563624"/>
            <a:ext cx="52120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8000"/>
              </a:lnSpc>
              <a:defRPr sz="1250">
                <a:latin typeface="Consolas"/>
              </a:defRPr>
            </a:pPr>
            <a:r>
              <a:rPr sz="1250" b="0" i="0">
                <a:solidFill>
                  <a:srgbClr val="0B57D0"/>
                </a:solidFill>
                <a:latin typeface="Consolas"/>
                <a:ea typeface="Consolas"/>
              </a:rPr>
              <a:t>const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267F99"/>
                </a:solidFill>
                <a:latin typeface="Consolas"/>
                <a:ea typeface="Consolas"/>
              </a:rPr>
              <a:t>double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PI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=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098658"/>
                </a:solidFill>
                <a:latin typeface="Consolas"/>
                <a:ea typeface="Consolas"/>
              </a:rPr>
              <a:t>3.14159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;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  </a:t>
            </a:r>
            <a:r>
              <a:rPr sz="1250" b="0" i="1">
                <a:solidFill>
                  <a:srgbClr val="2E8540"/>
                </a:solidFill>
                <a:latin typeface="Consolas"/>
                <a:ea typeface="Consolas"/>
              </a:rPr>
              <a:t>// менять нельзя</a:t>
            </a:r>
          </a:p>
          <a:p>
            <a:pPr>
              <a:lnSpc>
                <a:spcPct val="118000"/>
              </a:lnSpc>
              <a:defRPr sz="1250">
                <a:latin typeface="Consolas"/>
              </a:defRPr>
            </a:pPr>
            <a:r>
              <a:rPr sz="1250" b="0" i="1">
                <a:solidFill>
                  <a:srgbClr val="2E8540"/>
                </a:solidFill>
                <a:latin typeface="Consolas"/>
                <a:ea typeface="Consolas"/>
              </a:rPr>
              <a:t>// PI = 3.0;                 // ошибка компиляции!</a:t>
            </a:r>
          </a:p>
          <a:p>
            <a:pPr>
              <a:lnSpc>
                <a:spcPct val="118000"/>
              </a:lnSpc>
              <a:defRPr sz="1250">
                <a:latin typeface="Consolas"/>
              </a:defRPr>
            </a:pP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</a:p>
          <a:p>
            <a:pPr>
              <a:lnSpc>
                <a:spcPct val="118000"/>
              </a:lnSpc>
              <a:defRPr sz="1250">
                <a:latin typeface="Consolas"/>
              </a:defRPr>
            </a:pPr>
            <a:r>
              <a:rPr sz="1250" b="0" i="0">
                <a:solidFill>
                  <a:srgbClr val="0B57D0"/>
                </a:solidFill>
                <a:latin typeface="Consolas"/>
                <a:ea typeface="Consolas"/>
              </a:rPr>
              <a:t>constexpr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267F99"/>
                </a:solidFill>
                <a:latin typeface="Consolas"/>
                <a:ea typeface="Consolas"/>
              </a:rPr>
              <a:t>int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N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=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098658"/>
                </a:solidFill>
                <a:latin typeface="Consolas"/>
                <a:ea typeface="Consolas"/>
              </a:rPr>
              <a:t>10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;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       </a:t>
            </a:r>
            <a:r>
              <a:rPr sz="1250" b="0" i="1">
                <a:solidFill>
                  <a:srgbClr val="2E8540"/>
                </a:solidFill>
                <a:latin typeface="Consolas"/>
                <a:ea typeface="Consolas"/>
              </a:rPr>
              <a:t>// известно при компиляции</a:t>
            </a:r>
          </a:p>
          <a:p>
            <a:pPr>
              <a:lnSpc>
                <a:spcPct val="118000"/>
              </a:lnSpc>
              <a:defRPr sz="1250">
                <a:latin typeface="Consolas"/>
              </a:defRPr>
            </a:pPr>
            <a:r>
              <a:rPr sz="1250" b="0" i="0">
                <a:solidFill>
                  <a:srgbClr val="267F99"/>
                </a:solidFill>
                <a:latin typeface="Consolas"/>
                <a:ea typeface="Consolas"/>
              </a:rPr>
              <a:t>int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arr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[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N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];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                 </a:t>
            </a:r>
            <a:r>
              <a:rPr sz="1250" b="0" i="1">
                <a:solidFill>
                  <a:srgbClr val="2E8540"/>
                </a:solidFill>
                <a:latin typeface="Consolas"/>
                <a:ea typeface="Consolas"/>
              </a:rPr>
              <a:t>// OK в C++</a:t>
            </a:r>
          </a:p>
          <a:p>
            <a:pPr>
              <a:lnSpc>
                <a:spcPct val="118000"/>
              </a:lnSpc>
              <a:defRPr sz="1250">
                <a:latin typeface="Consolas"/>
              </a:defRPr>
            </a:pP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</a:p>
          <a:p>
            <a:pPr>
              <a:lnSpc>
                <a:spcPct val="118000"/>
              </a:lnSpc>
              <a:defRPr sz="1250">
                <a:latin typeface="Consolas"/>
              </a:defRPr>
            </a:pPr>
            <a:r>
              <a:rPr sz="1250" b="0" i="1">
                <a:solidFill>
                  <a:srgbClr val="2E8540"/>
                </a:solidFill>
                <a:latin typeface="Consolas"/>
                <a:ea typeface="Consolas"/>
              </a:rPr>
              <a:t>// регистр устройства:</a:t>
            </a:r>
          </a:p>
          <a:p>
            <a:pPr>
              <a:lnSpc>
                <a:spcPct val="118000"/>
              </a:lnSpc>
              <a:defRPr sz="1250">
                <a:latin typeface="Consolas"/>
              </a:defRPr>
            </a:pPr>
            <a:r>
              <a:rPr sz="1250" b="0" i="0">
                <a:solidFill>
                  <a:srgbClr val="0B57D0"/>
                </a:solidFill>
                <a:latin typeface="Consolas"/>
                <a:ea typeface="Consolas"/>
              </a:rPr>
              <a:t>volatile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267F99"/>
                </a:solidFill>
                <a:latin typeface="Consolas"/>
                <a:ea typeface="Consolas"/>
              </a:rPr>
              <a:t>uint32_t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*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port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=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 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(</a:t>
            </a:r>
            <a:r>
              <a:rPr sz="1250" b="0" i="0">
                <a:solidFill>
                  <a:srgbClr val="267F99"/>
                </a:solidFill>
                <a:latin typeface="Consolas"/>
                <a:ea typeface="Consolas"/>
              </a:rPr>
              <a:t>uint32_t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*)0</a:t>
            </a:r>
            <a:r>
              <a:rPr sz="1250" b="0" i="0">
                <a:solidFill>
                  <a:srgbClr val="1F2937"/>
                </a:solidFill>
                <a:latin typeface="Consolas"/>
                <a:ea typeface="Consolas"/>
              </a:rPr>
              <a:t>x40021000</a:t>
            </a:r>
            <a:r>
              <a:rPr sz="1250" b="0" i="0">
                <a:solidFill>
                  <a:srgbClr val="6B7280"/>
                </a:solidFill>
                <a:latin typeface="Consolas"/>
                <a:ea typeface="Consolas"/>
              </a:rPr>
              <a:t>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21240" y="1472184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8A94A6"/>
                </a:solidFill>
                <a:latin typeface="Consolas"/>
                <a:ea typeface="Consolas"/>
              </a:rPr>
              <a:t>qualifiers.cpp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 i="0">
                <a:solidFill>
                  <a:srgbClr val="1F3050"/>
                </a:solidFill>
                <a:latin typeface="Calibri"/>
                <a:ea typeface="Calibri"/>
              </a:rPr>
              <a:t>C и C++: ключевые различия в типах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24128"/>
            <a:ext cx="1371600" cy="50292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993392" y="1024128"/>
            <a:ext cx="320040" cy="50292"/>
          </a:xfrm>
          <a:prstGeom prst="rect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0" i="0">
                <a:solidFill>
                  <a:srgbClr val="8A94A6"/>
                </a:solidFill>
                <a:latin typeface="Calibri"/>
                <a:ea typeface="Calibri"/>
              </a:rPr>
              <a:t>Типы переменных в C и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37376"/>
            <a:ext cx="502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2D9CDB"/>
                </a:solidFill>
                <a:latin typeface="Calibri"/>
                <a:ea typeface="Calibri"/>
              </a:rPr>
              <a:t>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17320"/>
          <a:ext cx="11091672" cy="40782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06040"/>
                <a:gridCol w="4343400"/>
                <a:gridCol w="4142232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Возможность</a:t>
                      </a:r>
                    </a:p>
                  </a:txBody>
                  <a:tcPr marL="109728" marR="91440" marT="36576" marB="36576" anchor="ctr">
                    <a:solidFill>
                      <a:srgbClr val="1F30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C</a:t>
                      </a:r>
                    </a:p>
                  </a:txBody>
                  <a:tcPr marL="109728" marR="91440" marT="36576" marB="36576" anchor="ctr">
                    <a:solidFill>
                      <a:srgbClr val="1F30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C++</a:t>
                      </a:r>
                    </a:p>
                  </a:txBody>
                  <a:tcPr marL="109728" marR="91440" marT="36576" marB="36576" anchor="ctr">
                    <a:solidFill>
                      <a:srgbClr val="1F3050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26334A"/>
                          </a:solidFill>
                          <a:latin typeface="Calibri"/>
                          <a:ea typeface="Calibri"/>
                        </a:rPr>
                        <a:t>Логический тип</a:t>
                      </a:r>
                    </a:p>
                  </a:txBody>
                  <a:tcPr marL="109728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B02A5B"/>
                          </a:solidFill>
                          <a:latin typeface="Consolas"/>
                          <a:ea typeface="Consolas"/>
                        </a:rPr>
                        <a:t>&lt;stdbool.h&gt;</a:t>
                      </a:r>
                      <a:r>
                        <a:rPr sz="1250" b="0" i="0">
                          <a:solidFill>
                            <a:srgbClr val="3C4655"/>
                          </a:solidFill>
                          <a:latin typeface="Calibri"/>
                          <a:ea typeface="Calibri"/>
                        </a:rPr>
                        <a:t> (C99), встроенный </a:t>
                      </a:r>
                      <a:r>
                        <a:rPr sz="1150" b="1" i="0">
                          <a:solidFill>
                            <a:srgbClr val="B02A5B"/>
                          </a:solidFill>
                          <a:latin typeface="Consolas"/>
                          <a:ea typeface="Consolas"/>
                        </a:rPr>
                        <a:t>bool</a:t>
                      </a:r>
                      <a:r>
                        <a:rPr sz="1250" b="0" i="0">
                          <a:solidFill>
                            <a:srgbClr val="3C4655"/>
                          </a:solidFill>
                          <a:latin typeface="Calibri"/>
                          <a:ea typeface="Calibri"/>
                        </a:rPr>
                        <a:t> (C23)</a:t>
                      </a:r>
                    </a:p>
                  </a:txBody>
                  <a:tcPr marL="109728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C4655"/>
                          </a:solidFill>
                          <a:latin typeface="Calibri"/>
                          <a:ea typeface="Calibri"/>
                        </a:rPr>
                        <a:t>встроенный </a:t>
                      </a:r>
                      <a:r>
                        <a:rPr sz="1150" b="1" i="0">
                          <a:solidFill>
                            <a:srgbClr val="B02A5B"/>
                          </a:solidFill>
                          <a:latin typeface="Consolas"/>
                          <a:ea typeface="Consolas"/>
                        </a:rPr>
                        <a:t>bool</a:t>
                      </a:r>
                      <a:r>
                        <a:rPr sz="1250" b="0" i="0">
                          <a:solidFill>
                            <a:srgbClr val="3C4655"/>
                          </a:solidFill>
                          <a:latin typeface="Calibri"/>
                          <a:ea typeface="Calibri"/>
                        </a:rPr>
                        <a:t>, </a:t>
                      </a:r>
                      <a:r>
                        <a:rPr sz="1150" b="1" i="0">
                          <a:solidFill>
                            <a:srgbClr val="B02A5B"/>
                          </a:solidFill>
                          <a:latin typeface="Consolas"/>
                          <a:ea typeface="Consolas"/>
                        </a:rPr>
                        <a:t>true</a:t>
                      </a:r>
                      <a:r>
                        <a:rPr sz="1250" b="0" i="0">
                          <a:solidFill>
                            <a:srgbClr val="3C4655"/>
                          </a:solidFill>
                          <a:latin typeface="Calibri"/>
                          <a:ea typeface="Calibri"/>
                        </a:rPr>
                        <a:t> / </a:t>
                      </a:r>
                      <a:r>
                        <a:rPr sz="1150" b="1" i="0">
                          <a:solidFill>
                            <a:srgbClr val="B02A5B"/>
                          </a:solidFill>
                          <a:latin typeface="Consolas"/>
                          <a:ea typeface="Consolas"/>
                        </a:rPr>
                        <a:t>false</a:t>
                      </a:r>
                    </a:p>
                  </a:txBody>
                  <a:tcPr marL="109728" marR="91440" marT="36576" marB="36576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26334A"/>
                          </a:solidFill>
                          <a:latin typeface="Calibri"/>
                          <a:ea typeface="Calibri"/>
                        </a:rPr>
                        <a:t>Ссылки</a:t>
                      </a:r>
                    </a:p>
                  </a:txBody>
                  <a:tcPr marL="109728" marR="91440" marT="36576" marB="36576" anchor="ctr">
                    <a:solidFill>
                      <a:srgbClr val="ED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C4655"/>
                          </a:solidFill>
                          <a:latin typeface="Calibri"/>
                          <a:ea typeface="Calibri"/>
                        </a:rPr>
                        <a:t>нет</a:t>
                      </a:r>
                    </a:p>
                  </a:txBody>
                  <a:tcPr marL="109728" marR="91440" marT="36576" marB="36576" anchor="ctr">
                    <a:solidFill>
                      <a:srgbClr val="ED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B02A5B"/>
                          </a:solidFill>
                          <a:latin typeface="Consolas"/>
                          <a:ea typeface="Consolas"/>
                        </a:rPr>
                        <a:t>int&amp; r = x;</a:t>
                      </a:r>
                    </a:p>
                  </a:txBody>
                  <a:tcPr marL="109728" marR="91440" marT="36576" marB="36576" anchor="ctr">
                    <a:solidFill>
                      <a:srgbClr val="EDF2F8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26334A"/>
                          </a:solidFill>
                          <a:latin typeface="Calibri"/>
                          <a:ea typeface="Calibri"/>
                        </a:rPr>
                        <a:t>Классы</a:t>
                      </a:r>
                    </a:p>
                  </a:txBody>
                  <a:tcPr marL="109728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C4655"/>
                          </a:solidFill>
                          <a:latin typeface="Calibri"/>
                          <a:ea typeface="Calibri"/>
                        </a:rPr>
                        <a:t>нет, только </a:t>
                      </a:r>
                      <a:r>
                        <a:rPr sz="1150" b="1" i="0">
                          <a:solidFill>
                            <a:srgbClr val="B02A5B"/>
                          </a:solidFill>
                          <a:latin typeface="Consolas"/>
                          <a:ea typeface="Consolas"/>
                        </a:rPr>
                        <a:t>struct</a:t>
                      </a:r>
                    </a:p>
                  </a:txBody>
                  <a:tcPr marL="109728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B02A5B"/>
                          </a:solidFill>
                          <a:latin typeface="Consolas"/>
                          <a:ea typeface="Consolas"/>
                        </a:rPr>
                        <a:t>class</a:t>
                      </a:r>
                      <a:r>
                        <a:rPr sz="1250" b="0" i="0">
                          <a:solidFill>
                            <a:srgbClr val="3C4655"/>
                          </a:solidFill>
                          <a:latin typeface="Calibri"/>
                          <a:ea typeface="Calibri"/>
                        </a:rPr>
                        <a:t>: методы, наследование, доступ</a:t>
                      </a:r>
                    </a:p>
                  </a:txBody>
                  <a:tcPr marL="109728" marR="91440" marT="36576" marB="36576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26334A"/>
                          </a:solidFill>
                          <a:latin typeface="Calibri"/>
                          <a:ea typeface="Calibri"/>
                        </a:rPr>
                        <a:t>Ключевое слово </a:t>
                      </a:r>
                      <a:r>
                        <a:rPr sz="1150" b="1" i="0">
                          <a:solidFill>
                            <a:srgbClr val="B02A5B"/>
                          </a:solidFill>
                          <a:latin typeface="Consolas"/>
                          <a:ea typeface="Consolas"/>
                        </a:rPr>
                        <a:t>auto</a:t>
                      </a:r>
                    </a:p>
                  </a:txBody>
                  <a:tcPr marL="109728" marR="91440" marT="36576" marB="36576" anchor="ctr">
                    <a:solidFill>
                      <a:srgbClr val="ED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C4655"/>
                          </a:solidFill>
                          <a:latin typeface="Calibri"/>
                          <a:ea typeface="Calibri"/>
                        </a:rPr>
                        <a:t>класс памяти (на практике не используется)</a:t>
                      </a:r>
                    </a:p>
                  </a:txBody>
                  <a:tcPr marL="109728" marR="91440" marT="36576" marB="36576" anchor="ctr">
                    <a:solidFill>
                      <a:srgbClr val="ED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C4655"/>
                          </a:solidFill>
                          <a:latin typeface="Calibri"/>
                          <a:ea typeface="Calibri"/>
                        </a:rPr>
                        <a:t>вывод типа из инициализатора (C++11)</a:t>
                      </a:r>
                    </a:p>
                  </a:txBody>
                  <a:tcPr marL="109728" marR="91440" marT="36576" marB="36576" anchor="ctr">
                    <a:solidFill>
                      <a:srgbClr val="EDF2F8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26334A"/>
                          </a:solidFill>
                          <a:latin typeface="Calibri"/>
                          <a:ea typeface="Calibri"/>
                        </a:rPr>
                        <a:t>Строки</a:t>
                      </a:r>
                    </a:p>
                  </a:txBody>
                  <a:tcPr marL="109728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B02A5B"/>
                          </a:solidFill>
                          <a:latin typeface="Consolas"/>
                          <a:ea typeface="Consolas"/>
                        </a:rPr>
                        <a:t>char*</a:t>
                      </a:r>
                      <a:r>
                        <a:rPr sz="1250" b="0" i="0">
                          <a:solidFill>
                            <a:srgbClr val="3C4655"/>
                          </a:solidFill>
                          <a:latin typeface="Calibri"/>
                          <a:ea typeface="Calibri"/>
                        </a:rPr>
                        <a:t>, </a:t>
                      </a:r>
                      <a:r>
                        <a:rPr sz="1150" b="1" i="0">
                          <a:solidFill>
                            <a:srgbClr val="B02A5B"/>
                          </a:solidFill>
                          <a:latin typeface="Consolas"/>
                          <a:ea typeface="Consolas"/>
                        </a:rPr>
                        <a:t>char[]</a:t>
                      </a:r>
                      <a:r>
                        <a:rPr sz="1250" b="0" i="0">
                          <a:solidFill>
                            <a:srgbClr val="3C4655"/>
                          </a:solidFill>
                          <a:latin typeface="Calibri"/>
                          <a:ea typeface="Calibri"/>
                        </a:rPr>
                        <a:t>, </a:t>
                      </a:r>
                      <a:r>
                        <a:rPr sz="1150" b="1" i="0">
                          <a:solidFill>
                            <a:srgbClr val="B02A5B"/>
                          </a:solidFill>
                          <a:latin typeface="Consolas"/>
                          <a:ea typeface="Consolas"/>
                        </a:rPr>
                        <a:t>&lt;string.h&gt;</a:t>
                      </a:r>
                    </a:p>
                  </a:txBody>
                  <a:tcPr marL="109728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B02A5B"/>
                          </a:solidFill>
                          <a:latin typeface="Consolas"/>
                          <a:ea typeface="Consolas"/>
                        </a:rPr>
                        <a:t>std::string</a:t>
                      </a:r>
                      <a:r>
                        <a:rPr sz="1250" b="0" i="0">
                          <a:solidFill>
                            <a:srgbClr val="3C4655"/>
                          </a:solidFill>
                          <a:latin typeface="Calibri"/>
                          <a:ea typeface="Calibri"/>
                        </a:rPr>
                        <a:t>, </a:t>
                      </a:r>
                      <a:r>
                        <a:rPr sz="1150" b="1" i="0">
                          <a:solidFill>
                            <a:srgbClr val="B02A5B"/>
                          </a:solidFill>
                          <a:latin typeface="Consolas"/>
                          <a:ea typeface="Consolas"/>
                        </a:rPr>
                        <a:t>&lt;string&gt;</a:t>
                      </a:r>
                    </a:p>
                  </a:txBody>
                  <a:tcPr marL="109728" marR="91440" marT="36576" marB="36576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26334A"/>
                          </a:solidFill>
                          <a:latin typeface="Calibri"/>
                          <a:ea typeface="Calibri"/>
                        </a:rPr>
                        <a:t>Псевдонимы типов</a:t>
                      </a:r>
                    </a:p>
                  </a:txBody>
                  <a:tcPr marL="109728" marR="91440" marT="36576" marB="36576" anchor="ctr">
                    <a:solidFill>
                      <a:srgbClr val="ED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B02A5B"/>
                          </a:solidFill>
                          <a:latin typeface="Consolas"/>
                          <a:ea typeface="Consolas"/>
                        </a:rPr>
                        <a:t>typedef</a:t>
                      </a:r>
                    </a:p>
                  </a:txBody>
                  <a:tcPr marL="109728" marR="91440" marT="36576" marB="36576" anchor="ctr">
                    <a:solidFill>
                      <a:srgbClr val="ED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B02A5B"/>
                          </a:solidFill>
                          <a:latin typeface="Consolas"/>
                          <a:ea typeface="Consolas"/>
                        </a:rPr>
                        <a:t>typedef</a:t>
                      </a:r>
                      <a:r>
                        <a:rPr sz="1250" b="0" i="0">
                          <a:solidFill>
                            <a:srgbClr val="3C4655"/>
                          </a:solidFill>
                          <a:latin typeface="Calibri"/>
                          <a:ea typeface="Calibri"/>
                        </a:rPr>
                        <a:t> и </a:t>
                      </a:r>
                      <a:r>
                        <a:rPr sz="1150" b="1" i="0">
                          <a:solidFill>
                            <a:srgbClr val="B02A5B"/>
                          </a:solidFill>
                          <a:latin typeface="Consolas"/>
                          <a:ea typeface="Consolas"/>
                        </a:rPr>
                        <a:t>using</a:t>
                      </a:r>
                      <a:r>
                        <a:rPr sz="1250" b="0" i="0">
                          <a:solidFill>
                            <a:srgbClr val="3C4655"/>
                          </a:solidFill>
                          <a:latin typeface="Calibri"/>
                          <a:ea typeface="Calibri"/>
                        </a:rPr>
                        <a:t> (C++11)</a:t>
                      </a:r>
                    </a:p>
                  </a:txBody>
                  <a:tcPr marL="109728" marR="91440" marT="36576" marB="36576" anchor="ctr">
                    <a:solidFill>
                      <a:srgbClr val="EDF2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0" i="0">
                <a:solidFill>
                  <a:srgbClr val="8A94A6"/>
                </a:solidFill>
                <a:latin typeface="Calibri"/>
                <a:ea typeface="Calibri"/>
              </a:rPr>
              <a:t>Почти любой код на C корректен и в C++, но обратное неверно: C++ добавляет типы и механизмы, которых в C просто нет.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 i="0">
                <a:solidFill>
                  <a:srgbClr val="1F3050"/>
                </a:solidFill>
                <a:latin typeface="Calibri"/>
                <a:ea typeface="Calibri"/>
              </a:rPr>
              <a:t>Итоги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24128"/>
            <a:ext cx="1371600" cy="50292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993392" y="1024128"/>
            <a:ext cx="320040" cy="50292"/>
          </a:xfrm>
          <a:prstGeom prst="rect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0" i="0">
                <a:solidFill>
                  <a:srgbClr val="8A94A6"/>
                </a:solidFill>
                <a:latin typeface="Calibri"/>
                <a:ea typeface="Calibri"/>
              </a:rPr>
              <a:t>Типы переменных в C и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37376"/>
            <a:ext cx="502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2D9CDB"/>
                </a:solidFill>
                <a:latin typeface="Calibri"/>
                <a:ea typeface="Calibr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6424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28600" indent="-228600">
              <a:lnSpc>
                <a:spcPct val="112000"/>
              </a:lnSpc>
              <a:spcBef>
                <a:spcPts val="1300"/>
              </a:spcBef>
              <a:buClr>
                <a:srgbClr val="2D9CDB"/>
              </a:buClr>
              <a:buFont typeface="Arial" pitchFamily="34" charset="0"/>
              <a:buChar char="•"/>
            </a:pPr>
            <a:r>
              <a:rPr sz="1550" b="1" i="0">
                <a:solidFill>
                  <a:srgbClr val="26334A"/>
                </a:solidFill>
                <a:latin typeface="Calibri"/>
                <a:ea typeface="Calibri"/>
              </a:rPr>
              <a:t>Тип определяет всё: </a:t>
            </a:r>
            <a:r>
              <a:rPr sz="1550" b="0" i="0">
                <a:solidFill>
                  <a:srgbClr val="3C4655"/>
                </a:solidFill>
                <a:latin typeface="Calibri"/>
                <a:ea typeface="Calibri"/>
              </a:rPr>
              <a:t>размер в памяти, диапазон значений и допустимые операции</a:t>
            </a:r>
          </a:p>
          <a:p>
            <a:pPr marL="228600" indent="-228600">
              <a:lnSpc>
                <a:spcPct val="112000"/>
              </a:lnSpc>
              <a:spcBef>
                <a:spcPts val="1300"/>
              </a:spcBef>
              <a:buClr>
                <a:srgbClr val="2D9CDB"/>
              </a:buClr>
              <a:buFont typeface="Arial" pitchFamily="34" charset="0"/>
              <a:buChar char="•"/>
            </a:pPr>
            <a:r>
              <a:rPr sz="1550" b="1" i="0">
                <a:solidFill>
                  <a:srgbClr val="26334A"/>
                </a:solidFill>
                <a:latin typeface="Calibri"/>
                <a:ea typeface="Calibri"/>
              </a:rPr>
              <a:t>Базовые типы </a:t>
            </a:r>
            <a:r>
              <a:rPr sz="1550" b="0" i="0">
                <a:solidFill>
                  <a:srgbClr val="3C4655"/>
                </a:solidFill>
                <a:latin typeface="Calibri"/>
                <a:ea typeface="Calibri"/>
              </a:rPr>
              <a:t>(</a:t>
            </a:r>
            <a:r>
              <a:rPr sz="1450" b="1" i="0">
                <a:solidFill>
                  <a:srgbClr val="B02A5B"/>
                </a:solidFill>
                <a:latin typeface="Consolas"/>
                <a:ea typeface="Consolas"/>
              </a:rPr>
              <a:t>int</a:t>
            </a:r>
            <a:r>
              <a:rPr sz="1550" b="0" i="0">
                <a:solidFill>
                  <a:srgbClr val="3C4655"/>
                </a:solidFill>
                <a:latin typeface="Calibri"/>
                <a:ea typeface="Calibri"/>
              </a:rPr>
              <a:t>, </a:t>
            </a:r>
            <a:r>
              <a:rPr sz="1450" b="1" i="0">
                <a:solidFill>
                  <a:srgbClr val="B02A5B"/>
                </a:solidFill>
                <a:latin typeface="Consolas"/>
                <a:ea typeface="Consolas"/>
              </a:rPr>
              <a:t>double</a:t>
            </a:r>
            <a:r>
              <a:rPr sz="1550" b="0" i="0">
                <a:solidFill>
                  <a:srgbClr val="3C4655"/>
                </a:solidFill>
                <a:latin typeface="Calibri"/>
                <a:ea typeface="Calibri"/>
              </a:rPr>
              <a:t>, </a:t>
            </a:r>
            <a:r>
              <a:rPr sz="1450" b="1" i="0">
                <a:solidFill>
                  <a:srgbClr val="B02A5B"/>
                </a:solidFill>
                <a:latin typeface="Consolas"/>
                <a:ea typeface="Consolas"/>
              </a:rPr>
              <a:t>char</a:t>
            </a:r>
            <a:r>
              <a:rPr sz="1550" b="0" i="0">
                <a:solidFill>
                  <a:srgbClr val="3C4655"/>
                </a:solidFill>
                <a:latin typeface="Calibri"/>
                <a:ea typeface="Calibri"/>
              </a:rPr>
              <a:t>, </a:t>
            </a:r>
            <a:r>
              <a:rPr sz="1450" b="1" i="0">
                <a:solidFill>
                  <a:srgbClr val="B02A5B"/>
                </a:solidFill>
                <a:latin typeface="Consolas"/>
                <a:ea typeface="Consolas"/>
              </a:rPr>
              <a:t>bool</a:t>
            </a:r>
            <a:r>
              <a:rPr sz="1550" b="0" i="0">
                <a:solidFill>
                  <a:srgbClr val="3C4655"/>
                </a:solidFill>
                <a:latin typeface="Calibri"/>
                <a:ea typeface="Calibri"/>
              </a:rPr>
              <a:t>) — строительные блоки для остальных</a:t>
            </a:r>
          </a:p>
          <a:p>
            <a:pPr marL="228600" indent="-228600">
              <a:lnSpc>
                <a:spcPct val="112000"/>
              </a:lnSpc>
              <a:spcBef>
                <a:spcPts val="1300"/>
              </a:spcBef>
              <a:buClr>
                <a:srgbClr val="2D9CDB"/>
              </a:buClr>
              <a:buFont typeface="Arial" pitchFamily="34" charset="0"/>
              <a:buChar char="•"/>
            </a:pPr>
            <a:r>
              <a:rPr sz="1550" b="1" i="0">
                <a:solidFill>
                  <a:srgbClr val="26334A"/>
                </a:solidFill>
                <a:latin typeface="Calibri"/>
                <a:ea typeface="Calibri"/>
              </a:rPr>
              <a:t>Производные и пользовательские </a:t>
            </a:r>
            <a:r>
              <a:rPr sz="1550" b="0" i="0">
                <a:solidFill>
                  <a:srgbClr val="3C4655"/>
                </a:solidFill>
                <a:latin typeface="Calibri"/>
                <a:ea typeface="Calibri"/>
              </a:rPr>
              <a:t>(массивы, указатели, ссылки, </a:t>
            </a:r>
            <a:r>
              <a:rPr sz="1450" b="1" i="0">
                <a:solidFill>
                  <a:srgbClr val="B02A5B"/>
                </a:solidFill>
                <a:latin typeface="Consolas"/>
                <a:ea typeface="Consolas"/>
              </a:rPr>
              <a:t>struct</a:t>
            </a:r>
            <a:r>
              <a:rPr sz="1550" b="0" i="0">
                <a:solidFill>
                  <a:srgbClr val="3C4655"/>
                </a:solidFill>
                <a:latin typeface="Calibri"/>
                <a:ea typeface="Calibri"/>
              </a:rPr>
              <a:t>, </a:t>
            </a:r>
            <a:r>
              <a:rPr sz="1450" b="1" i="0">
                <a:solidFill>
                  <a:srgbClr val="B02A5B"/>
                </a:solidFill>
                <a:latin typeface="Consolas"/>
                <a:ea typeface="Consolas"/>
              </a:rPr>
              <a:t>class</a:t>
            </a:r>
            <a:r>
              <a:rPr sz="1550" b="0" i="0">
                <a:solidFill>
                  <a:srgbClr val="3C4655"/>
                </a:solidFill>
                <a:latin typeface="Calibri"/>
                <a:ea typeface="Calibri"/>
              </a:rPr>
              <a:t>) моделируют сложные данные</a:t>
            </a:r>
          </a:p>
          <a:p>
            <a:pPr marL="228600" indent="-228600">
              <a:lnSpc>
                <a:spcPct val="112000"/>
              </a:lnSpc>
              <a:spcBef>
                <a:spcPts val="1300"/>
              </a:spcBef>
              <a:buClr>
                <a:srgbClr val="2D9CDB"/>
              </a:buClr>
              <a:buFont typeface="Arial" pitchFamily="34" charset="0"/>
              <a:buChar char="•"/>
            </a:pPr>
            <a:r>
              <a:rPr sz="1550" b="1" i="0">
                <a:solidFill>
                  <a:srgbClr val="26334A"/>
                </a:solidFill>
                <a:latin typeface="Calibri"/>
                <a:ea typeface="Calibri"/>
              </a:rPr>
              <a:t>Для переносимости </a:t>
            </a:r>
            <a:r>
              <a:rPr sz="1550" b="0" i="0">
                <a:solidFill>
                  <a:srgbClr val="3C4655"/>
                </a:solidFill>
                <a:latin typeface="Calibri"/>
                <a:ea typeface="Calibri"/>
              </a:rPr>
              <a:t>используйте типы фиксированной ширины </a:t>
            </a:r>
            <a:r>
              <a:rPr sz="1450" b="1" i="0">
                <a:solidFill>
                  <a:srgbClr val="B02A5B"/>
                </a:solidFill>
                <a:latin typeface="Consolas"/>
                <a:ea typeface="Consolas"/>
              </a:rPr>
              <a:t>int32_t</a:t>
            </a:r>
            <a:r>
              <a:rPr sz="1550" b="0" i="0">
                <a:solidFill>
                  <a:srgbClr val="3C4655"/>
                </a:solidFill>
                <a:latin typeface="Calibri"/>
                <a:ea typeface="Calibri"/>
              </a:rPr>
              <a:t>, </a:t>
            </a:r>
            <a:r>
              <a:rPr sz="1450" b="1" i="0">
                <a:solidFill>
                  <a:srgbClr val="B02A5B"/>
                </a:solidFill>
                <a:latin typeface="Consolas"/>
                <a:ea typeface="Consolas"/>
              </a:rPr>
              <a:t>uint64_t</a:t>
            </a:r>
            <a:r>
              <a:rPr sz="1550" b="0" i="0">
                <a:solidFill>
                  <a:srgbClr val="3C4655"/>
                </a:solidFill>
                <a:latin typeface="Calibri"/>
                <a:ea typeface="Calibri"/>
              </a:rPr>
              <a:t>, для дробных — </a:t>
            </a:r>
            <a:r>
              <a:rPr sz="1450" b="1" i="0">
                <a:solidFill>
                  <a:srgbClr val="B02A5B"/>
                </a:solidFill>
                <a:latin typeface="Consolas"/>
                <a:ea typeface="Consolas"/>
              </a:rPr>
              <a:t>double</a:t>
            </a:r>
          </a:p>
          <a:p>
            <a:pPr marL="228600" indent="-228600">
              <a:lnSpc>
                <a:spcPct val="112000"/>
              </a:lnSpc>
              <a:spcBef>
                <a:spcPts val="1300"/>
              </a:spcBef>
              <a:buClr>
                <a:srgbClr val="2D9CDB"/>
              </a:buClr>
              <a:buFont typeface="Arial" pitchFamily="34" charset="0"/>
              <a:buChar char="•"/>
            </a:pPr>
            <a:r>
              <a:rPr sz="1550" b="1" i="0">
                <a:solidFill>
                  <a:srgbClr val="26334A"/>
                </a:solidFill>
                <a:latin typeface="Calibri"/>
                <a:ea typeface="Calibri"/>
              </a:rPr>
              <a:t>`const` и `constexpr` </a:t>
            </a:r>
            <a:r>
              <a:rPr sz="1550" b="0" i="0">
                <a:solidFill>
                  <a:srgbClr val="3C4655"/>
                </a:solidFill>
                <a:latin typeface="Calibri"/>
                <a:ea typeface="Calibri"/>
              </a:rPr>
              <a:t>делают код безопаснее и понятнее</a:t>
            </a:r>
          </a:p>
          <a:p>
            <a:pPr marL="228600" indent="-228600">
              <a:lnSpc>
                <a:spcPct val="112000"/>
              </a:lnSpc>
              <a:spcBef>
                <a:spcPts val="1300"/>
              </a:spcBef>
              <a:buClr>
                <a:srgbClr val="2D9CDB"/>
              </a:buClr>
              <a:buFont typeface="Arial" pitchFamily="34" charset="0"/>
              <a:buChar char="•"/>
            </a:pPr>
            <a:r>
              <a:rPr sz="1550" b="1" i="0">
                <a:solidFill>
                  <a:srgbClr val="26334A"/>
                </a:solidFill>
                <a:latin typeface="Calibri"/>
                <a:ea typeface="Calibri"/>
              </a:rPr>
              <a:t>C++ расширяет C: </a:t>
            </a:r>
            <a:r>
              <a:rPr sz="1550" b="0" i="0">
                <a:solidFill>
                  <a:srgbClr val="3C4655"/>
                </a:solidFill>
                <a:latin typeface="Calibri"/>
                <a:ea typeface="Calibri"/>
              </a:rPr>
              <a:t>ссылки, классы, вывод типов </a:t>
            </a:r>
            <a:r>
              <a:rPr sz="1450" b="1" i="0">
                <a:solidFill>
                  <a:srgbClr val="B02A5B"/>
                </a:solidFill>
                <a:latin typeface="Consolas"/>
                <a:ea typeface="Consolas"/>
              </a:rPr>
              <a:t>auto</a:t>
            </a:r>
            <a:r>
              <a:rPr sz="1550" b="0" i="0">
                <a:solidFill>
                  <a:srgbClr val="3C4655"/>
                </a:solidFill>
                <a:latin typeface="Calibri"/>
                <a:ea typeface="Calibri"/>
              </a:rPr>
              <a:t>, </a:t>
            </a:r>
            <a:r>
              <a:rPr sz="1450" b="1" i="0">
                <a:solidFill>
                  <a:srgbClr val="B02A5B"/>
                </a:solidFill>
                <a:latin typeface="Consolas"/>
                <a:ea typeface="Consolas"/>
              </a:rPr>
              <a:t>std::string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5257800"/>
            <a:ext cx="6126480" cy="777240"/>
          </a:xfrm>
          <a:prstGeom prst="roundRect">
            <a:avLst>
              <a:gd name="adj" fmla="val 50000"/>
            </a:avLst>
          </a:prstGeom>
          <a:solidFill>
            <a:srgbClr val="F3F6FA"/>
          </a:solidFill>
          <a:ln w="12700"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 i="0">
                <a:solidFill>
                  <a:srgbClr val="1F3050"/>
                </a:solidFill>
                <a:latin typeface="Calibri"/>
                <a:ea typeface="Calibri"/>
              </a:rPr>
              <a:t>Спасибо за внимание!  </a:t>
            </a:r>
            <a:r>
              <a:rPr sz="1900" b="1" i="0">
                <a:solidFill>
                  <a:srgbClr val="2D9CDB"/>
                </a:solidFill>
                <a:latin typeface="Calibri"/>
                <a:ea typeface="Calibri"/>
              </a:rPr>
              <a:t>Вопросы?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Типы переменных в C и C++</dc:title>
  <dc:subject>Типы данных, переменные, C, C++</dc:subject>
  <dc:creator>Qwen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ru-RU</dc:language>
</cp:coreProperties>
</file>